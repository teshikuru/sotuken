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3" r:id="rId8"/>
    <p:sldId id="264" r:id="rId9"/>
    <p:sldId id="262" r:id="rId10"/>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58953" autoAdjust="0"/>
  </p:normalViewPr>
  <p:slideViewPr>
    <p:cSldViewPr snapToGrid="0" showGuides="1">
      <p:cViewPr varScale="1">
        <p:scale>
          <a:sx n="45" d="100"/>
          <a:sy n="45" d="100"/>
        </p:scale>
        <p:origin x="1460" y="56"/>
      </p:cViewPr>
      <p:guideLst>
        <p:guide orient="horz" pos="2160"/>
        <p:guide pos="3840"/>
      </p:guideLst>
    </p:cSldViewPr>
  </p:slideViewPr>
  <p:notesTextViewPr>
    <p:cViewPr>
      <p:scale>
        <a:sx n="1" d="1"/>
        <a:sy n="1" d="1"/>
      </p:scale>
      <p:origin x="0" y="0"/>
    </p:cViewPr>
  </p:notesTextViewPr>
  <p:notesViewPr>
    <p:cSldViewPr snapToGrid="0" showGuides="1">
      <p:cViewPr>
        <p:scale>
          <a:sx n="66" d="100"/>
          <a:sy n="66" d="100"/>
        </p:scale>
        <p:origin x="2364" y="3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BED1BD-653C-43ED-A09B-DDF3DF6A501E}" type="datetimeFigureOut">
              <a:rPr kumimoji="1" lang="ja-JP" altLang="en-US" smtClean="0"/>
              <a:t>2020/1/28</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F56F1-EC0B-4846-9177-A86739D4DBDF}" type="slidenum">
              <a:rPr kumimoji="1" lang="ja-JP" altLang="en-US" smtClean="0"/>
              <a:t>‹#›</a:t>
            </a:fld>
            <a:endParaRPr kumimoji="1" lang="ja-JP" altLang="en-US"/>
          </a:p>
        </p:txBody>
      </p:sp>
    </p:spTree>
    <p:extLst>
      <p:ext uri="{BB962C8B-B14F-4D97-AF65-F5344CB8AC3E}">
        <p14:creationId xmlns:p14="http://schemas.microsoft.com/office/powerpoint/2010/main" val="322104489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FDF56F1-EC0B-4846-9177-A86739D4DBDF}" type="slidenum">
              <a:rPr kumimoji="1" lang="ja-JP" altLang="en-US" smtClean="0"/>
              <a:t>1</a:t>
            </a:fld>
            <a:endParaRPr kumimoji="1" lang="ja-JP" altLang="en-US"/>
          </a:p>
        </p:txBody>
      </p:sp>
    </p:spTree>
    <p:extLst>
      <p:ext uri="{BB962C8B-B14F-4D97-AF65-F5344CB8AC3E}">
        <p14:creationId xmlns:p14="http://schemas.microsoft.com/office/powerpoint/2010/main" val="37132344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研究背景として、</a:t>
            </a:r>
            <a:r>
              <a:rPr kumimoji="1" lang="en-US" altLang="ja-JP" dirty="0"/>
              <a:t>IT</a:t>
            </a:r>
            <a:r>
              <a:rPr kumimoji="1" lang="ja-JP" altLang="en-US" dirty="0"/>
              <a:t>化が進み、不正アクセスの被害が多く</a:t>
            </a:r>
            <a:r>
              <a:rPr lang="ja-JP" altLang="en-US" dirty="0"/>
              <a:t>ニュースに取り上げられています。その中で、</a:t>
            </a:r>
            <a:r>
              <a:rPr kumimoji="1" lang="ja-JP" altLang="en-US" dirty="0"/>
              <a:t>不正アクセスを防ぎ被害を減少させることが重要視されています。</a:t>
            </a:r>
          </a:p>
          <a:p>
            <a:endParaRPr lang="en-US" altLang="ja-JP" dirty="0"/>
          </a:p>
          <a:p>
            <a:r>
              <a:rPr lang="ja-JP" altLang="en-US" dirty="0"/>
              <a:t>最近の事例ですと、</a:t>
            </a:r>
            <a:r>
              <a:rPr lang="en-US" altLang="ja-JP" dirty="0"/>
              <a:t>7pay</a:t>
            </a:r>
            <a:r>
              <a:rPr lang="ja-JP" altLang="en-US" dirty="0"/>
              <a:t>による不正アクセス事件が話題となりました。</a:t>
            </a:r>
            <a:endParaRPr lang="en-US"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fld id="{BFDF56F1-EC0B-4846-9177-A86739D4DBDF}" type="slidenum">
              <a:rPr kumimoji="1" lang="ja-JP" altLang="en-US" smtClean="0"/>
              <a:t>2</a:t>
            </a:fld>
            <a:endParaRPr kumimoji="1" lang="ja-JP" altLang="en-US"/>
          </a:p>
        </p:txBody>
      </p:sp>
    </p:spTree>
    <p:extLst>
      <p:ext uri="{BB962C8B-B14F-4D97-AF65-F5344CB8AC3E}">
        <p14:creationId xmlns:p14="http://schemas.microsoft.com/office/powerpoint/2010/main" val="32291509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sz="1200" b="0" i="0" u="none" strike="noStrike" kern="1200" dirty="0">
                <a:solidFill>
                  <a:schemeClr val="tx1"/>
                </a:solidFill>
                <a:effectLst/>
                <a:latin typeface="+mn-lt"/>
                <a:ea typeface="+mn-ea"/>
                <a:cs typeface="+mn-cs"/>
              </a:rPr>
              <a:t>内容としては、クレジットカードから</a:t>
            </a:r>
            <a:r>
              <a:rPr kumimoji="1" lang="en-US" altLang="ja-JP" sz="1200" b="0" i="0" u="none" strike="noStrike" kern="1200" dirty="0">
                <a:solidFill>
                  <a:schemeClr val="tx1"/>
                </a:solidFill>
                <a:effectLst/>
                <a:latin typeface="+mn-lt"/>
                <a:ea typeface="+mn-ea"/>
                <a:cs typeface="+mn-cs"/>
              </a:rPr>
              <a:t>7Pay</a:t>
            </a:r>
            <a:r>
              <a:rPr kumimoji="1" lang="ja-JP" altLang="en-US" sz="1200" b="0" i="0" u="none" strike="noStrike" kern="1200" dirty="0">
                <a:solidFill>
                  <a:schemeClr val="tx1"/>
                </a:solidFill>
                <a:effectLst/>
                <a:latin typeface="+mn-lt"/>
                <a:ea typeface="+mn-ea"/>
                <a:cs typeface="+mn-cs"/>
              </a:rPr>
              <a:t>に</a:t>
            </a:r>
            <a:r>
              <a:rPr kumimoji="1" lang="ja-JP" altLang="en-US" sz="1200" b="1" i="0" u="none" strike="noStrike" kern="1200" dirty="0">
                <a:solidFill>
                  <a:schemeClr val="tx1"/>
                </a:solidFill>
                <a:effectLst/>
                <a:latin typeface="+mn-lt"/>
                <a:ea typeface="+mn-ea"/>
                <a:cs typeface="+mn-cs"/>
              </a:rPr>
              <a:t>勝手にチャージを行い、セブンイレブンで商品を購入</a:t>
            </a:r>
            <a:r>
              <a:rPr kumimoji="1" lang="ja-JP" altLang="en-US" sz="1200" b="0" i="0" u="none" strike="noStrike" kern="1200" dirty="0">
                <a:solidFill>
                  <a:schemeClr val="tx1"/>
                </a:solidFill>
                <a:effectLst/>
                <a:latin typeface="+mn-lt"/>
                <a:ea typeface="+mn-ea"/>
                <a:cs typeface="+mn-cs"/>
              </a:rPr>
              <a:t>されてしまうというものです。</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dirty="0">
                <a:solidFill>
                  <a:schemeClr val="tx1"/>
                </a:solidFill>
                <a:effectLst/>
                <a:latin typeface="+mn-lt"/>
                <a:ea typeface="+mn-ea"/>
                <a:cs typeface="+mn-cs"/>
              </a:rPr>
              <a:t>このような不正アクセスが起きてしまったのには、</a:t>
            </a:r>
            <a:r>
              <a:rPr kumimoji="1" lang="en-US" altLang="ja-JP" sz="1200" b="0" i="0" u="none" strike="noStrike" kern="1200" dirty="0">
                <a:solidFill>
                  <a:schemeClr val="tx1"/>
                </a:solidFill>
                <a:effectLst/>
                <a:latin typeface="+mn-lt"/>
                <a:ea typeface="+mn-ea"/>
                <a:cs typeface="+mn-cs"/>
              </a:rPr>
              <a:t>7iD</a:t>
            </a:r>
            <a:r>
              <a:rPr kumimoji="1" lang="ja-JP" altLang="en-US" sz="1200" b="0" i="0" u="none" strike="noStrike" kern="1200" dirty="0">
                <a:solidFill>
                  <a:schemeClr val="tx1"/>
                </a:solidFill>
                <a:effectLst/>
                <a:latin typeface="+mn-lt"/>
                <a:ea typeface="+mn-ea"/>
                <a:cs typeface="+mn-cs"/>
              </a:rPr>
              <a:t>のパスワード再発行ページの二段階認証のセキュリティの甘さが指摘されています。</a:t>
            </a:r>
            <a:endParaRPr kumimoji="1" lang="en-US" altLang="ja-JP" sz="1200" b="0" i="0" u="none" strike="noStrike"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dirty="0">
                <a:solidFill>
                  <a:schemeClr val="tx1"/>
                </a:solidFill>
                <a:effectLst/>
                <a:latin typeface="+mn-lt"/>
                <a:ea typeface="+mn-ea"/>
                <a:cs typeface="+mn-cs"/>
              </a:rPr>
              <a:t>二段階認証とは、</a:t>
            </a:r>
            <a:r>
              <a:rPr kumimoji="1" lang="en-US" altLang="ja-JP" sz="1200" b="0" i="0" u="none" strike="noStrike" kern="1200" dirty="0">
                <a:solidFill>
                  <a:schemeClr val="tx1"/>
                </a:solidFill>
                <a:effectLst/>
                <a:latin typeface="+mn-lt"/>
                <a:ea typeface="+mn-ea"/>
                <a:cs typeface="+mn-cs"/>
              </a:rPr>
              <a:t>Web</a:t>
            </a:r>
            <a:r>
              <a:rPr kumimoji="1" lang="ja-JP" altLang="en-US" sz="1200" b="0" i="0" u="none" strike="noStrike" kern="1200" dirty="0">
                <a:solidFill>
                  <a:schemeClr val="tx1"/>
                </a:solidFill>
                <a:effectLst/>
                <a:latin typeface="+mn-lt"/>
                <a:ea typeface="+mn-ea"/>
                <a:cs typeface="+mn-cs"/>
              </a:rPr>
              <a:t>サービスなどにログインする際、</a:t>
            </a:r>
            <a:r>
              <a:rPr kumimoji="1" lang="en-US" altLang="ja-JP" sz="1200" b="0" i="0" u="none" strike="noStrike" kern="1200" dirty="0">
                <a:solidFill>
                  <a:schemeClr val="tx1"/>
                </a:solidFill>
                <a:effectLst/>
                <a:latin typeface="+mn-lt"/>
                <a:ea typeface="+mn-ea"/>
                <a:cs typeface="+mn-cs"/>
              </a:rPr>
              <a:t>ID</a:t>
            </a:r>
            <a:r>
              <a:rPr kumimoji="1" lang="ja-JP" altLang="en-US" sz="1200" b="0" i="0" u="none" strike="noStrike" kern="1200" dirty="0">
                <a:solidFill>
                  <a:schemeClr val="tx1"/>
                </a:solidFill>
                <a:effectLst/>
                <a:latin typeface="+mn-lt"/>
                <a:ea typeface="+mn-ea"/>
                <a:cs typeface="+mn-cs"/>
              </a:rPr>
              <a:t>・パスワードの他に、メールや</a:t>
            </a:r>
            <a:r>
              <a:rPr kumimoji="1" lang="en-US" altLang="ja-JP" sz="1200" b="0" i="0" u="none" strike="noStrike" kern="1200" dirty="0">
                <a:solidFill>
                  <a:schemeClr val="tx1"/>
                </a:solidFill>
                <a:effectLst/>
                <a:latin typeface="+mn-lt"/>
                <a:ea typeface="+mn-ea"/>
                <a:cs typeface="+mn-cs"/>
              </a:rPr>
              <a:t>SMS</a:t>
            </a:r>
            <a:r>
              <a:rPr kumimoji="1" lang="ja-JP" altLang="en-US" sz="1200" b="0" i="0" u="none" strike="noStrike" kern="1200" dirty="0">
                <a:solidFill>
                  <a:schemeClr val="tx1"/>
                </a:solidFill>
                <a:effectLst/>
                <a:latin typeface="+mn-lt"/>
                <a:ea typeface="+mn-ea"/>
                <a:cs typeface="+mn-cs"/>
              </a:rPr>
              <a:t>で送られてくるコードを入力するというように、利用者認証を</a:t>
            </a:r>
            <a:r>
              <a:rPr kumimoji="1" lang="en-US" altLang="ja-JP" sz="1200" b="0" i="0" u="none" strike="noStrike" kern="1200" dirty="0">
                <a:solidFill>
                  <a:schemeClr val="tx1"/>
                </a:solidFill>
                <a:effectLst/>
                <a:latin typeface="+mn-lt"/>
                <a:ea typeface="+mn-ea"/>
                <a:cs typeface="+mn-cs"/>
              </a:rPr>
              <a:t>2</a:t>
            </a:r>
            <a:r>
              <a:rPr kumimoji="1" lang="ja-JP" altLang="en-US" sz="1200" b="0" i="0" u="none" strike="noStrike" kern="1200" dirty="0">
                <a:solidFill>
                  <a:schemeClr val="tx1"/>
                </a:solidFill>
                <a:effectLst/>
                <a:latin typeface="+mn-lt"/>
                <a:ea typeface="+mn-ea"/>
                <a:cs typeface="+mn-cs"/>
              </a:rPr>
              <a:t>回に分けて行う手法です。</a:t>
            </a:r>
            <a:endParaRPr kumimoji="1" lang="en-US" altLang="ja-JP" sz="1200" b="0" i="0" u="none" strike="noStrike" kern="1200" dirty="0">
              <a:solidFill>
                <a:schemeClr val="tx1"/>
              </a:solidFill>
              <a:effectLst/>
              <a:latin typeface="+mn-lt"/>
              <a:ea typeface="+mn-ea"/>
              <a:cs typeface="+mn-cs"/>
            </a:endParaRPr>
          </a:p>
          <a:p>
            <a:r>
              <a:rPr kumimoji="1" lang="ja-JP" altLang="en-US" sz="1200" b="0" i="0" u="none" strike="noStrike" kern="1200" dirty="0">
                <a:solidFill>
                  <a:schemeClr val="tx1"/>
                </a:solidFill>
                <a:effectLst/>
                <a:latin typeface="+mn-lt"/>
                <a:ea typeface="+mn-ea"/>
                <a:cs typeface="+mn-cs"/>
              </a:rPr>
              <a:t>登録に必要なユーザーアカウントとして、セブン</a:t>
            </a:r>
            <a:r>
              <a:rPr kumimoji="1" lang="en-US" altLang="ja-JP" sz="1200" b="0" i="0" u="none" strike="noStrike" kern="1200" dirty="0">
                <a:solidFill>
                  <a:schemeClr val="tx1"/>
                </a:solidFill>
                <a:effectLst/>
                <a:latin typeface="+mn-lt"/>
                <a:ea typeface="+mn-ea"/>
                <a:cs typeface="+mn-cs"/>
              </a:rPr>
              <a:t>&amp;</a:t>
            </a:r>
            <a:r>
              <a:rPr kumimoji="1" lang="ja-JP" altLang="en-US" sz="1200" b="0" i="0" u="none" strike="noStrike" kern="1200" dirty="0">
                <a:solidFill>
                  <a:schemeClr val="tx1"/>
                </a:solidFill>
                <a:effectLst/>
                <a:latin typeface="+mn-lt"/>
                <a:ea typeface="+mn-ea"/>
                <a:cs typeface="+mn-cs"/>
              </a:rPr>
              <a:t>アイホールディングスの共通</a:t>
            </a:r>
            <a:r>
              <a:rPr kumimoji="1" lang="en-US" altLang="ja-JP" sz="1200" b="0" i="0" u="none" strike="noStrike" kern="1200" dirty="0">
                <a:solidFill>
                  <a:schemeClr val="tx1"/>
                </a:solidFill>
                <a:effectLst/>
                <a:latin typeface="+mn-lt"/>
                <a:ea typeface="+mn-ea"/>
                <a:cs typeface="+mn-cs"/>
              </a:rPr>
              <a:t>ID</a:t>
            </a:r>
            <a:r>
              <a:rPr kumimoji="1" lang="ja-JP" altLang="en-US" sz="1200" b="0" i="0" u="none" strike="noStrike" kern="1200" dirty="0">
                <a:solidFill>
                  <a:schemeClr val="tx1"/>
                </a:solidFill>
                <a:effectLst/>
                <a:latin typeface="+mn-lt"/>
                <a:ea typeface="+mn-ea"/>
                <a:cs typeface="+mn-cs"/>
              </a:rPr>
              <a:t>の「</a:t>
            </a:r>
            <a:r>
              <a:rPr kumimoji="1" lang="en-US" altLang="ja-JP" sz="1200" b="0" i="0" u="none" strike="noStrike" kern="1200" dirty="0">
                <a:solidFill>
                  <a:schemeClr val="tx1"/>
                </a:solidFill>
                <a:effectLst/>
                <a:latin typeface="+mn-lt"/>
                <a:ea typeface="+mn-ea"/>
                <a:cs typeface="+mn-cs"/>
              </a:rPr>
              <a:t>7iD</a:t>
            </a:r>
            <a:r>
              <a:rPr kumimoji="1" lang="ja-JP" altLang="en-US" sz="1200" b="0" i="0" u="none" strike="noStrike" kern="1200" dirty="0">
                <a:solidFill>
                  <a:schemeClr val="tx1"/>
                </a:solidFill>
                <a:effectLst/>
                <a:latin typeface="+mn-lt"/>
                <a:ea typeface="+mn-ea"/>
                <a:cs typeface="+mn-cs"/>
              </a:rPr>
              <a:t>」が活用されています。</a:t>
            </a:r>
            <a:endParaRPr kumimoji="1" lang="en-US" altLang="ja-JP" sz="1200" b="0" i="0" u="none" strike="noStrike" kern="1200" dirty="0">
              <a:solidFill>
                <a:schemeClr val="tx1"/>
              </a:solidFill>
              <a:effectLst/>
              <a:latin typeface="+mn-lt"/>
              <a:ea typeface="+mn-ea"/>
              <a:cs typeface="+mn-cs"/>
            </a:endParaRPr>
          </a:p>
          <a:p>
            <a:endParaRPr kumimoji="1" lang="ja-JP" altLang="en-US" dirty="0"/>
          </a:p>
        </p:txBody>
      </p:sp>
      <p:sp>
        <p:nvSpPr>
          <p:cNvPr id="4" name="スライド番号プレースホルダー 3"/>
          <p:cNvSpPr>
            <a:spLocks noGrp="1"/>
          </p:cNvSpPr>
          <p:nvPr>
            <p:ph type="sldNum" sz="quarter" idx="5"/>
          </p:nvPr>
        </p:nvSpPr>
        <p:spPr/>
        <p:txBody>
          <a:bodyPr/>
          <a:lstStyle/>
          <a:p>
            <a:fld id="{BFDF56F1-EC0B-4846-9177-A86739D4DBDF}" type="slidenum">
              <a:rPr kumimoji="1" lang="ja-JP" altLang="en-US" smtClean="0"/>
              <a:t>3</a:t>
            </a:fld>
            <a:endParaRPr kumimoji="1" lang="ja-JP" altLang="en-US"/>
          </a:p>
        </p:txBody>
      </p:sp>
    </p:spTree>
    <p:extLst>
      <p:ext uri="{BB962C8B-B14F-4D97-AF65-F5344CB8AC3E}">
        <p14:creationId xmlns:p14="http://schemas.microsoft.com/office/powerpoint/2010/main" val="29662612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sz="1200" b="0" i="0" u="none" strike="noStrike" kern="1200" dirty="0">
                <a:solidFill>
                  <a:schemeClr val="tx1"/>
                </a:solidFill>
                <a:effectLst/>
                <a:latin typeface="+mn-lt"/>
                <a:ea typeface="+mn-ea"/>
                <a:cs typeface="+mn-cs"/>
              </a:rPr>
              <a:t>「</a:t>
            </a:r>
            <a:r>
              <a:rPr kumimoji="1" lang="en-US" altLang="ja-JP" sz="1200" b="0" i="0" u="none" strike="noStrike" kern="1200" dirty="0">
                <a:solidFill>
                  <a:schemeClr val="tx1"/>
                </a:solidFill>
                <a:effectLst/>
                <a:latin typeface="+mn-lt"/>
                <a:ea typeface="+mn-ea"/>
                <a:cs typeface="+mn-cs"/>
              </a:rPr>
              <a:t>7iD</a:t>
            </a:r>
            <a:r>
              <a:rPr kumimoji="1" lang="ja-JP" altLang="en-US" sz="1200" b="0" i="0" u="none" strike="noStrike" kern="1200" dirty="0">
                <a:solidFill>
                  <a:schemeClr val="tx1"/>
                </a:solidFill>
                <a:effectLst/>
                <a:latin typeface="+mn-lt"/>
                <a:ea typeface="+mn-ea"/>
                <a:cs typeface="+mn-cs"/>
              </a:rPr>
              <a:t>」のパスワードをリセットするために必要な情報は、電話番号と生年月日のみ使用します。</a:t>
            </a:r>
            <a:endParaRPr kumimoji="1" lang="en-US" altLang="ja-JP" sz="1200" b="0" i="0" u="none" strike="noStrike"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dirty="0">
                <a:solidFill>
                  <a:schemeClr val="tx1"/>
                </a:solidFill>
                <a:effectLst/>
                <a:latin typeface="+mn-lt"/>
                <a:ea typeface="+mn-ea"/>
                <a:cs typeface="+mn-cs"/>
              </a:rPr>
              <a:t>なので電話番号と生年月日さえ入手できれば簡単に乗っ取られてしまいます。</a:t>
            </a:r>
            <a:endParaRPr kumimoji="1" lang="en-US" altLang="ja-JP" sz="1200" b="0" i="0" u="none" strike="noStrike"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dirty="0">
                <a:solidFill>
                  <a:schemeClr val="tx1"/>
                </a:solidFill>
                <a:effectLst/>
                <a:latin typeface="+mn-lt"/>
                <a:ea typeface="+mn-ea"/>
                <a:cs typeface="+mn-cs"/>
              </a:rPr>
              <a:t>しかもアカウント再発行からの確認メールを「別のメールアドレス」に送信する機能がつけられていたのです。</a:t>
            </a:r>
            <a:endParaRPr kumimoji="1" lang="en-US" altLang="ja-JP" sz="1200" b="0" i="0" u="none" strike="noStrike"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dirty="0">
                <a:solidFill>
                  <a:schemeClr val="tx1"/>
                </a:solidFill>
                <a:effectLst/>
                <a:latin typeface="+mn-lt"/>
                <a:ea typeface="+mn-ea"/>
                <a:cs typeface="+mn-cs"/>
              </a:rPr>
              <a:t>そして、生年月日が未設定の場合は「</a:t>
            </a:r>
            <a:r>
              <a:rPr kumimoji="1" lang="en-US" altLang="ja-JP" sz="1200" b="0" i="0" u="none" strike="noStrike" kern="1200" dirty="0">
                <a:solidFill>
                  <a:schemeClr val="tx1"/>
                </a:solidFill>
                <a:effectLst/>
                <a:latin typeface="+mn-lt"/>
                <a:ea typeface="+mn-ea"/>
                <a:cs typeface="+mn-cs"/>
              </a:rPr>
              <a:t>2019</a:t>
            </a:r>
            <a:r>
              <a:rPr kumimoji="1" lang="ja-JP" altLang="en-US" sz="1200" b="0" i="0" u="none" strike="noStrike" kern="1200" dirty="0">
                <a:solidFill>
                  <a:schemeClr val="tx1"/>
                </a:solidFill>
                <a:effectLst/>
                <a:latin typeface="+mn-lt"/>
                <a:ea typeface="+mn-ea"/>
                <a:cs typeface="+mn-cs"/>
              </a:rPr>
              <a:t>年１月１日」とデフォルトで設定してあります。</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dirty="0">
                <a:solidFill>
                  <a:schemeClr val="tx1"/>
                </a:solidFill>
                <a:effectLst/>
                <a:latin typeface="+mn-lt"/>
                <a:ea typeface="+mn-ea"/>
                <a:cs typeface="+mn-cs"/>
              </a:rPr>
              <a:t>つまり生年月日が未設定の会員に対して電話番号の数字</a:t>
            </a:r>
            <a:r>
              <a:rPr kumimoji="1" lang="en-US" altLang="ja-JP" sz="1200" b="0" i="0" u="none" strike="noStrike" kern="1200" dirty="0">
                <a:solidFill>
                  <a:schemeClr val="tx1"/>
                </a:solidFill>
                <a:effectLst/>
                <a:latin typeface="+mn-lt"/>
                <a:ea typeface="+mn-ea"/>
                <a:cs typeface="+mn-cs"/>
              </a:rPr>
              <a:t>8</a:t>
            </a:r>
            <a:r>
              <a:rPr kumimoji="1" lang="ja-JP" altLang="en-US" sz="1200" b="0" i="0" u="none" strike="noStrike" kern="1200" dirty="0">
                <a:solidFill>
                  <a:schemeClr val="tx1"/>
                </a:solidFill>
                <a:effectLst/>
                <a:latin typeface="+mn-lt"/>
                <a:ea typeface="+mn-ea"/>
                <a:cs typeface="+mn-cs"/>
              </a:rPr>
              <a:t>桁を</a:t>
            </a:r>
            <a:r>
              <a:rPr kumimoji="1" lang="en-US" altLang="ja-JP" sz="1200" b="0" i="0" u="none" strike="noStrike" kern="1200" dirty="0">
                <a:solidFill>
                  <a:schemeClr val="tx1"/>
                </a:solidFill>
                <a:effectLst/>
                <a:latin typeface="+mn-lt"/>
                <a:ea typeface="+mn-ea"/>
                <a:cs typeface="+mn-cs"/>
              </a:rPr>
              <a:t>080</a:t>
            </a:r>
            <a:r>
              <a:rPr kumimoji="1" lang="ja-JP" altLang="en-US" sz="1200" b="0" i="0" u="none" strike="noStrike" kern="1200" dirty="0">
                <a:solidFill>
                  <a:schemeClr val="tx1"/>
                </a:solidFill>
                <a:effectLst/>
                <a:latin typeface="+mn-lt"/>
                <a:ea typeface="+mn-ea"/>
                <a:cs typeface="+mn-cs"/>
              </a:rPr>
              <a:t>と</a:t>
            </a:r>
            <a:r>
              <a:rPr kumimoji="1" lang="en-US" altLang="ja-JP" sz="1200" b="0" i="0" u="none" strike="noStrike" kern="1200" dirty="0">
                <a:solidFill>
                  <a:schemeClr val="tx1"/>
                </a:solidFill>
                <a:effectLst/>
                <a:latin typeface="+mn-lt"/>
                <a:ea typeface="+mn-ea"/>
                <a:cs typeface="+mn-cs"/>
              </a:rPr>
              <a:t>090</a:t>
            </a:r>
            <a:r>
              <a:rPr kumimoji="1" lang="ja-JP" altLang="en-US" sz="1200" b="0" i="0" u="none" strike="noStrike" kern="1200" dirty="0">
                <a:solidFill>
                  <a:schemeClr val="tx1"/>
                </a:solidFill>
                <a:effectLst/>
                <a:latin typeface="+mn-lt"/>
                <a:ea typeface="+mn-ea"/>
                <a:cs typeface="+mn-cs"/>
              </a:rPr>
              <a:t>の総当たりすることで、簡単に不正アクセスを仕掛けることが出来た訳です。</a:t>
            </a:r>
            <a:endParaRPr kumimoji="1" lang="en-US" altLang="ja-JP" sz="1200" b="0" i="0" u="none" strike="noStrike" kern="1200" dirty="0">
              <a:solidFill>
                <a:schemeClr val="tx1"/>
              </a:solidFill>
              <a:effectLst/>
              <a:latin typeface="+mn-lt"/>
              <a:ea typeface="+mn-ea"/>
              <a:cs typeface="+mn-cs"/>
            </a:endParaRPr>
          </a:p>
          <a:p>
            <a:endParaRPr kumimoji="1" lang="ja-JP" altLang="en-US" dirty="0"/>
          </a:p>
        </p:txBody>
      </p:sp>
      <p:sp>
        <p:nvSpPr>
          <p:cNvPr id="4" name="スライド番号プレースホルダー 3"/>
          <p:cNvSpPr>
            <a:spLocks noGrp="1"/>
          </p:cNvSpPr>
          <p:nvPr>
            <p:ph type="sldNum" sz="quarter" idx="5"/>
          </p:nvPr>
        </p:nvSpPr>
        <p:spPr/>
        <p:txBody>
          <a:bodyPr/>
          <a:lstStyle/>
          <a:p>
            <a:fld id="{BFDF56F1-EC0B-4846-9177-A86739D4DBDF}" type="slidenum">
              <a:rPr kumimoji="1" lang="ja-JP" altLang="en-US" smtClean="0"/>
              <a:t>4</a:t>
            </a:fld>
            <a:endParaRPr kumimoji="1" lang="ja-JP" altLang="en-US"/>
          </a:p>
        </p:txBody>
      </p:sp>
    </p:spTree>
    <p:extLst>
      <p:ext uri="{BB962C8B-B14F-4D97-AF65-F5344CB8AC3E}">
        <p14:creationId xmlns:p14="http://schemas.microsoft.com/office/powerpoint/2010/main" val="3102987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先ほど紹介した</a:t>
            </a:r>
            <a:r>
              <a:rPr kumimoji="1" lang="en-US" altLang="ja-JP" dirty="0"/>
              <a:t>7pay</a:t>
            </a:r>
            <a:r>
              <a:rPr kumimoji="1" lang="ja-JP" altLang="en-US" dirty="0"/>
              <a:t>の不正アクセスの事例は認証の問題であり、なりすましによる脆弱性によって起きたと考えられます。</a:t>
            </a:r>
            <a:endParaRPr kumimoji="1" lang="en-US" altLang="ja-JP" dirty="0"/>
          </a:p>
          <a:p>
            <a:r>
              <a:rPr lang="ja-JP" altLang="en-US" dirty="0"/>
              <a:t>不正アクセスには一般的にはファイアウォールなどがあり私はこの不正アクセスを防止する研究をしていきたいと思っています。</a:t>
            </a:r>
            <a:endParaRPr kumimoji="1" lang="ja-JP" alt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研究目的として私は、不正アクセスを対策することのできるファイアウォールやセキュリティ製品ソフトの開発をしたいと考えてます。</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不正アクセス対策としてファイアウォールやセキュリティ製品ソフトを使用する方法があります。</a:t>
            </a:r>
          </a:p>
          <a:p>
            <a:r>
              <a:rPr kumimoji="1" lang="ja-JP" altLang="en-US" dirty="0"/>
              <a:t>この方法を使うことで被害の拡大を防ぐとともに不正アクセスを遮断することができます。</a:t>
            </a:r>
            <a:endParaRPr kumimoji="1" lang="en-US"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fld id="{BFDF56F1-EC0B-4846-9177-A86739D4DBDF}" type="slidenum">
              <a:rPr kumimoji="1" lang="ja-JP" altLang="en-US" smtClean="0"/>
              <a:t>5</a:t>
            </a:fld>
            <a:endParaRPr kumimoji="1" lang="ja-JP" altLang="en-US"/>
          </a:p>
        </p:txBody>
      </p:sp>
    </p:spTree>
    <p:extLst>
      <p:ext uri="{BB962C8B-B14F-4D97-AF65-F5344CB8AC3E}">
        <p14:creationId xmlns:p14="http://schemas.microsoft.com/office/powerpoint/2010/main" val="19076883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ファイアウォールは、</a:t>
            </a:r>
            <a:r>
              <a:rPr lang="ja-JP" altLang="en-US" sz="1200" dirty="0"/>
              <a:t>不正を防ぎ、機密性を高めるセキュリティ技術のことです。信頼できない外部ネットワークの攻撃から内部ネットワークを保護するシステムです。主に外部ネットワークと内部ネットワークの中継地点に設置され、セキュリティ上通信させると問題があるようなものを制御、監視します。必要な通信は通過させ、不要な通信を遮断することで内部ネットワークを保護しています。</a:t>
            </a:r>
            <a:endParaRPr lang="en-US" altLang="ja-JP" sz="1200" dirty="0"/>
          </a:p>
          <a:p>
            <a:endParaRPr kumimoji="1" lang="ja-JP" altLang="en-US" dirty="0"/>
          </a:p>
        </p:txBody>
      </p:sp>
      <p:sp>
        <p:nvSpPr>
          <p:cNvPr id="4" name="スライド番号プレースホルダー 3"/>
          <p:cNvSpPr>
            <a:spLocks noGrp="1"/>
          </p:cNvSpPr>
          <p:nvPr>
            <p:ph type="sldNum" sz="quarter" idx="5"/>
          </p:nvPr>
        </p:nvSpPr>
        <p:spPr/>
        <p:txBody>
          <a:bodyPr/>
          <a:lstStyle/>
          <a:p>
            <a:fld id="{BFDF56F1-EC0B-4846-9177-A86739D4DBDF}" type="slidenum">
              <a:rPr kumimoji="1" lang="ja-JP" altLang="en-US" smtClean="0"/>
              <a:t>6</a:t>
            </a:fld>
            <a:endParaRPr kumimoji="1" lang="ja-JP" altLang="en-US"/>
          </a:p>
        </p:txBody>
      </p:sp>
    </p:spTree>
    <p:extLst>
      <p:ext uri="{BB962C8B-B14F-4D97-AF65-F5344CB8AC3E}">
        <p14:creationId xmlns:p14="http://schemas.microsoft.com/office/powerpoint/2010/main" val="17247341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既存のソフトとして、不正侵入検出技術があります。</a:t>
            </a:r>
            <a:endParaRPr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t>ファイヤウォールなどの他のセキュリティ技術で防げなかったような通信を監視し、異常を検出して管理者に通知したり記録したりします。</a:t>
            </a:r>
          </a:p>
          <a:p>
            <a:r>
              <a:rPr kumimoji="1" lang="ja-JP" altLang="en-US" dirty="0"/>
              <a:t>機能として監視、不正侵入検出、通知、処理、ログの五つがあります。</a:t>
            </a:r>
            <a:endParaRPr kumimoji="1" lang="en-US" altLang="ja-JP" dirty="0"/>
          </a:p>
          <a:p>
            <a:r>
              <a:rPr kumimoji="1" lang="ja-JP" altLang="en-US" dirty="0"/>
              <a:t>ネットワークシステムで発生する事象を監視し、情報を収集し、監視結果からセキュリティ侵害と判断された事象を検出します。</a:t>
            </a:r>
            <a:endParaRPr kumimoji="1" lang="en-US" altLang="ja-JP" dirty="0"/>
          </a:p>
          <a:p>
            <a:r>
              <a:rPr kumimoji="1" lang="ja-JP" altLang="en-US" dirty="0"/>
              <a:t>その検出結果を直ちにネットワーク管理者に通知します。処理としてはあらかじめ定められた設定に従い、特定の事象に対して接続を遮断したり、ファイヤウォールの設定を変更したりします。</a:t>
            </a:r>
            <a:endParaRPr kumimoji="1" lang="en-US"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fld id="{BFDF56F1-EC0B-4846-9177-A86739D4DBDF}" type="slidenum">
              <a:rPr kumimoji="1" lang="ja-JP" altLang="en-US" smtClean="0"/>
              <a:t>7</a:t>
            </a:fld>
            <a:endParaRPr kumimoji="1" lang="ja-JP" altLang="en-US"/>
          </a:p>
        </p:txBody>
      </p:sp>
    </p:spTree>
    <p:extLst>
      <p:ext uri="{BB962C8B-B14F-4D97-AF65-F5344CB8AC3E}">
        <p14:creationId xmlns:p14="http://schemas.microsoft.com/office/powerpoint/2010/main" val="17709506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1" dirty="0"/>
              <a:t>最後に、既存のソフトの課題を見つけ出し、その課題を解決させるソフトを開発することを今後の取り組みとします。</a:t>
            </a:r>
          </a:p>
          <a:p>
            <a:endParaRPr kumimoji="1" lang="ja-JP" altLang="en-US" dirty="0"/>
          </a:p>
        </p:txBody>
      </p:sp>
      <p:sp>
        <p:nvSpPr>
          <p:cNvPr id="4" name="スライド番号プレースホルダー 3"/>
          <p:cNvSpPr>
            <a:spLocks noGrp="1"/>
          </p:cNvSpPr>
          <p:nvPr>
            <p:ph type="sldNum" sz="quarter" idx="5"/>
          </p:nvPr>
        </p:nvSpPr>
        <p:spPr/>
        <p:txBody>
          <a:bodyPr/>
          <a:lstStyle/>
          <a:p>
            <a:fld id="{BFDF56F1-EC0B-4846-9177-A86739D4DBDF}" type="slidenum">
              <a:rPr kumimoji="1" lang="ja-JP" altLang="en-US" smtClean="0"/>
              <a:t>8</a:t>
            </a:fld>
            <a:endParaRPr kumimoji="1" lang="ja-JP" altLang="en-US"/>
          </a:p>
        </p:txBody>
      </p:sp>
    </p:spTree>
    <p:extLst>
      <p:ext uri="{BB962C8B-B14F-4D97-AF65-F5344CB8AC3E}">
        <p14:creationId xmlns:p14="http://schemas.microsoft.com/office/powerpoint/2010/main" val="4681757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参考文献はこちらです。ご清聴ありがとうございました。</a:t>
            </a:r>
          </a:p>
        </p:txBody>
      </p:sp>
      <p:sp>
        <p:nvSpPr>
          <p:cNvPr id="4" name="スライド番号プレースホルダー 3"/>
          <p:cNvSpPr>
            <a:spLocks noGrp="1"/>
          </p:cNvSpPr>
          <p:nvPr>
            <p:ph type="sldNum" sz="quarter" idx="5"/>
          </p:nvPr>
        </p:nvSpPr>
        <p:spPr/>
        <p:txBody>
          <a:bodyPr/>
          <a:lstStyle/>
          <a:p>
            <a:fld id="{BFDF56F1-EC0B-4846-9177-A86739D4DBDF}" type="slidenum">
              <a:rPr kumimoji="1" lang="ja-JP" altLang="en-US" smtClean="0"/>
              <a:t>9</a:t>
            </a:fld>
            <a:endParaRPr kumimoji="1" lang="ja-JP" altLang="en-US"/>
          </a:p>
        </p:txBody>
      </p:sp>
    </p:spTree>
    <p:extLst>
      <p:ext uri="{BB962C8B-B14F-4D97-AF65-F5344CB8AC3E}">
        <p14:creationId xmlns:p14="http://schemas.microsoft.com/office/powerpoint/2010/main" val="7825463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BA527E9-9287-4D5A-96C8-ED15D63338D4}"/>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8A1F51E0-9EE2-4B31-A684-25CCF062B0A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B78D6FD4-53B8-40E1-8F6B-520060D39479}"/>
              </a:ext>
            </a:extLst>
          </p:cNvPr>
          <p:cNvSpPr>
            <a:spLocks noGrp="1"/>
          </p:cNvSpPr>
          <p:nvPr>
            <p:ph type="dt" sz="half" idx="10"/>
          </p:nvPr>
        </p:nvSpPr>
        <p:spPr/>
        <p:txBody>
          <a:bodyPr/>
          <a:lstStyle/>
          <a:p>
            <a:fld id="{ECD0E3BF-EBD8-4E68-9818-BF3C54C07196}" type="datetimeFigureOut">
              <a:rPr kumimoji="1" lang="ja-JP" altLang="en-US" smtClean="0"/>
              <a:t>2020/1/28</a:t>
            </a:fld>
            <a:endParaRPr kumimoji="1" lang="ja-JP" altLang="en-US"/>
          </a:p>
        </p:txBody>
      </p:sp>
      <p:sp>
        <p:nvSpPr>
          <p:cNvPr id="5" name="フッター プレースホルダー 4">
            <a:extLst>
              <a:ext uri="{FF2B5EF4-FFF2-40B4-BE49-F238E27FC236}">
                <a16:creationId xmlns:a16="http://schemas.microsoft.com/office/drawing/2014/main" id="{1E89FA97-787C-4F69-94D0-DCCB0A56144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39DF5A6-B6C3-44DA-898B-79E4689C1EE9}"/>
              </a:ext>
            </a:extLst>
          </p:cNvPr>
          <p:cNvSpPr>
            <a:spLocks noGrp="1"/>
          </p:cNvSpPr>
          <p:nvPr>
            <p:ph type="sldNum" sz="quarter" idx="12"/>
          </p:nvPr>
        </p:nvSpPr>
        <p:spPr/>
        <p:txBody>
          <a:bodyPr/>
          <a:lstStyle/>
          <a:p>
            <a:fld id="{C60A5D49-5FEF-45F9-B293-71E1D59CDE7A}" type="slidenum">
              <a:rPr kumimoji="1" lang="ja-JP" altLang="en-US" smtClean="0"/>
              <a:t>‹#›</a:t>
            </a:fld>
            <a:endParaRPr kumimoji="1" lang="ja-JP" altLang="en-US"/>
          </a:p>
        </p:txBody>
      </p:sp>
    </p:spTree>
    <p:extLst>
      <p:ext uri="{BB962C8B-B14F-4D97-AF65-F5344CB8AC3E}">
        <p14:creationId xmlns:p14="http://schemas.microsoft.com/office/powerpoint/2010/main" val="2198654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85D65A8-09F8-45CE-830F-01785FB402DC}"/>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8267160-E778-42B0-9036-F399E35B1AB8}"/>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1BADF6A-0B6C-4710-968B-FDE9E29B19F1}"/>
              </a:ext>
            </a:extLst>
          </p:cNvPr>
          <p:cNvSpPr>
            <a:spLocks noGrp="1"/>
          </p:cNvSpPr>
          <p:nvPr>
            <p:ph type="dt" sz="half" idx="10"/>
          </p:nvPr>
        </p:nvSpPr>
        <p:spPr/>
        <p:txBody>
          <a:bodyPr/>
          <a:lstStyle/>
          <a:p>
            <a:fld id="{ECD0E3BF-EBD8-4E68-9818-BF3C54C07196}" type="datetimeFigureOut">
              <a:rPr kumimoji="1" lang="ja-JP" altLang="en-US" smtClean="0"/>
              <a:t>2020/1/28</a:t>
            </a:fld>
            <a:endParaRPr kumimoji="1" lang="ja-JP" altLang="en-US"/>
          </a:p>
        </p:txBody>
      </p:sp>
      <p:sp>
        <p:nvSpPr>
          <p:cNvPr id="5" name="フッター プレースホルダー 4">
            <a:extLst>
              <a:ext uri="{FF2B5EF4-FFF2-40B4-BE49-F238E27FC236}">
                <a16:creationId xmlns:a16="http://schemas.microsoft.com/office/drawing/2014/main" id="{373BDE79-427E-415D-9267-92CE25995B5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5B92AA8-8975-4CCA-9FD0-A613040F2AD2}"/>
              </a:ext>
            </a:extLst>
          </p:cNvPr>
          <p:cNvSpPr>
            <a:spLocks noGrp="1"/>
          </p:cNvSpPr>
          <p:nvPr>
            <p:ph type="sldNum" sz="quarter" idx="12"/>
          </p:nvPr>
        </p:nvSpPr>
        <p:spPr/>
        <p:txBody>
          <a:bodyPr/>
          <a:lstStyle/>
          <a:p>
            <a:fld id="{C60A5D49-5FEF-45F9-B293-71E1D59CDE7A}" type="slidenum">
              <a:rPr kumimoji="1" lang="ja-JP" altLang="en-US" smtClean="0"/>
              <a:t>‹#›</a:t>
            </a:fld>
            <a:endParaRPr kumimoji="1" lang="ja-JP" altLang="en-US"/>
          </a:p>
        </p:txBody>
      </p:sp>
    </p:spTree>
    <p:extLst>
      <p:ext uri="{BB962C8B-B14F-4D97-AF65-F5344CB8AC3E}">
        <p14:creationId xmlns:p14="http://schemas.microsoft.com/office/powerpoint/2010/main" val="9991003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5801817-92D4-4086-A904-C82B7066C27D}"/>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57E804FC-0C40-42E0-A3BD-D250D77FB8C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A3F2A378-D525-4329-8305-F87015D40579}"/>
              </a:ext>
            </a:extLst>
          </p:cNvPr>
          <p:cNvSpPr>
            <a:spLocks noGrp="1"/>
          </p:cNvSpPr>
          <p:nvPr>
            <p:ph type="dt" sz="half" idx="10"/>
          </p:nvPr>
        </p:nvSpPr>
        <p:spPr/>
        <p:txBody>
          <a:bodyPr/>
          <a:lstStyle/>
          <a:p>
            <a:fld id="{ECD0E3BF-EBD8-4E68-9818-BF3C54C07196}" type="datetimeFigureOut">
              <a:rPr kumimoji="1" lang="ja-JP" altLang="en-US" smtClean="0"/>
              <a:t>2020/1/28</a:t>
            </a:fld>
            <a:endParaRPr kumimoji="1" lang="ja-JP" altLang="en-US"/>
          </a:p>
        </p:txBody>
      </p:sp>
      <p:sp>
        <p:nvSpPr>
          <p:cNvPr id="5" name="フッター プレースホルダー 4">
            <a:extLst>
              <a:ext uri="{FF2B5EF4-FFF2-40B4-BE49-F238E27FC236}">
                <a16:creationId xmlns:a16="http://schemas.microsoft.com/office/drawing/2014/main" id="{6077E60C-B5CA-4B02-B2F2-3A0C1AD285D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5A954FE-EFE4-4CF5-81A1-8111675FC17B}"/>
              </a:ext>
            </a:extLst>
          </p:cNvPr>
          <p:cNvSpPr>
            <a:spLocks noGrp="1"/>
          </p:cNvSpPr>
          <p:nvPr>
            <p:ph type="sldNum" sz="quarter" idx="12"/>
          </p:nvPr>
        </p:nvSpPr>
        <p:spPr/>
        <p:txBody>
          <a:bodyPr/>
          <a:lstStyle/>
          <a:p>
            <a:fld id="{C60A5D49-5FEF-45F9-B293-71E1D59CDE7A}" type="slidenum">
              <a:rPr kumimoji="1" lang="ja-JP" altLang="en-US" smtClean="0"/>
              <a:t>‹#›</a:t>
            </a:fld>
            <a:endParaRPr kumimoji="1" lang="ja-JP" altLang="en-US"/>
          </a:p>
        </p:txBody>
      </p:sp>
    </p:spTree>
    <p:extLst>
      <p:ext uri="{BB962C8B-B14F-4D97-AF65-F5344CB8AC3E}">
        <p14:creationId xmlns:p14="http://schemas.microsoft.com/office/powerpoint/2010/main" val="3931387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19AEF98-0F35-43EB-BBB8-D3B55728D32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CC4004C-04E8-4265-8A05-89889737250B}"/>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D5DDA13C-9717-4B9F-9682-57A87D803849}"/>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FB3ABD3D-7D9E-4F61-B324-7DE36F08FC27}"/>
              </a:ext>
            </a:extLst>
          </p:cNvPr>
          <p:cNvSpPr>
            <a:spLocks noGrp="1"/>
          </p:cNvSpPr>
          <p:nvPr>
            <p:ph type="dt" sz="half" idx="10"/>
          </p:nvPr>
        </p:nvSpPr>
        <p:spPr/>
        <p:txBody>
          <a:bodyPr/>
          <a:lstStyle/>
          <a:p>
            <a:fld id="{ECD0E3BF-EBD8-4E68-9818-BF3C54C07196}" type="datetimeFigureOut">
              <a:rPr kumimoji="1" lang="ja-JP" altLang="en-US" smtClean="0"/>
              <a:t>2020/1/28</a:t>
            </a:fld>
            <a:endParaRPr kumimoji="1" lang="ja-JP" altLang="en-US"/>
          </a:p>
        </p:txBody>
      </p:sp>
      <p:sp>
        <p:nvSpPr>
          <p:cNvPr id="6" name="フッター プレースホルダー 5">
            <a:extLst>
              <a:ext uri="{FF2B5EF4-FFF2-40B4-BE49-F238E27FC236}">
                <a16:creationId xmlns:a16="http://schemas.microsoft.com/office/drawing/2014/main" id="{7FF9A7E9-7C41-41D6-911F-09D93862FC9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7D4EBD7-E6E8-4D7D-9C46-2203F1634095}"/>
              </a:ext>
            </a:extLst>
          </p:cNvPr>
          <p:cNvSpPr>
            <a:spLocks noGrp="1"/>
          </p:cNvSpPr>
          <p:nvPr>
            <p:ph type="sldNum" sz="quarter" idx="12"/>
          </p:nvPr>
        </p:nvSpPr>
        <p:spPr/>
        <p:txBody>
          <a:bodyPr/>
          <a:lstStyle/>
          <a:p>
            <a:fld id="{C60A5D49-5FEF-45F9-B293-71E1D59CDE7A}" type="slidenum">
              <a:rPr kumimoji="1" lang="ja-JP" altLang="en-US" smtClean="0"/>
              <a:t>‹#›</a:t>
            </a:fld>
            <a:endParaRPr kumimoji="1" lang="ja-JP" altLang="en-US"/>
          </a:p>
        </p:txBody>
      </p:sp>
    </p:spTree>
    <p:extLst>
      <p:ext uri="{BB962C8B-B14F-4D97-AF65-F5344CB8AC3E}">
        <p14:creationId xmlns:p14="http://schemas.microsoft.com/office/powerpoint/2010/main" val="23029411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B73B550-2070-4821-A5C3-27E3B734B5A2}"/>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639DF7CC-471D-4620-84DB-929516D5A46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939FBFF6-060F-4491-9ACD-EA8307761976}"/>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85173F89-36E9-4BC8-BF2D-8FD83534EC0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A4EE0B9F-B1D8-4A89-87C1-D621CB6A2B62}"/>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65FA4FD1-E6CD-4151-9CAC-0962E83554F8}"/>
              </a:ext>
            </a:extLst>
          </p:cNvPr>
          <p:cNvSpPr>
            <a:spLocks noGrp="1"/>
          </p:cNvSpPr>
          <p:nvPr>
            <p:ph type="dt" sz="half" idx="10"/>
          </p:nvPr>
        </p:nvSpPr>
        <p:spPr/>
        <p:txBody>
          <a:bodyPr/>
          <a:lstStyle/>
          <a:p>
            <a:fld id="{ECD0E3BF-EBD8-4E68-9818-BF3C54C07196}" type="datetimeFigureOut">
              <a:rPr kumimoji="1" lang="ja-JP" altLang="en-US" smtClean="0"/>
              <a:t>2020/1/28</a:t>
            </a:fld>
            <a:endParaRPr kumimoji="1" lang="ja-JP" altLang="en-US"/>
          </a:p>
        </p:txBody>
      </p:sp>
      <p:sp>
        <p:nvSpPr>
          <p:cNvPr id="8" name="フッター プレースホルダー 7">
            <a:extLst>
              <a:ext uri="{FF2B5EF4-FFF2-40B4-BE49-F238E27FC236}">
                <a16:creationId xmlns:a16="http://schemas.microsoft.com/office/drawing/2014/main" id="{FEE57207-4364-4E98-9FEA-4931A34C6B96}"/>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3A944126-B81E-4007-8C05-1D4394355FEB}"/>
              </a:ext>
            </a:extLst>
          </p:cNvPr>
          <p:cNvSpPr>
            <a:spLocks noGrp="1"/>
          </p:cNvSpPr>
          <p:nvPr>
            <p:ph type="sldNum" sz="quarter" idx="12"/>
          </p:nvPr>
        </p:nvSpPr>
        <p:spPr/>
        <p:txBody>
          <a:bodyPr/>
          <a:lstStyle/>
          <a:p>
            <a:fld id="{C60A5D49-5FEF-45F9-B293-71E1D59CDE7A}" type="slidenum">
              <a:rPr kumimoji="1" lang="ja-JP" altLang="en-US" smtClean="0"/>
              <a:t>‹#›</a:t>
            </a:fld>
            <a:endParaRPr kumimoji="1" lang="ja-JP" altLang="en-US"/>
          </a:p>
        </p:txBody>
      </p:sp>
    </p:spTree>
    <p:extLst>
      <p:ext uri="{BB962C8B-B14F-4D97-AF65-F5344CB8AC3E}">
        <p14:creationId xmlns:p14="http://schemas.microsoft.com/office/powerpoint/2010/main" val="5371737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93C33D6-C4F5-4CC6-8BB3-E308F81FA043}"/>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769CFA87-77A9-4111-9549-6DDF05D6083D}"/>
              </a:ext>
            </a:extLst>
          </p:cNvPr>
          <p:cNvSpPr>
            <a:spLocks noGrp="1"/>
          </p:cNvSpPr>
          <p:nvPr>
            <p:ph type="dt" sz="half" idx="10"/>
          </p:nvPr>
        </p:nvSpPr>
        <p:spPr/>
        <p:txBody>
          <a:bodyPr/>
          <a:lstStyle/>
          <a:p>
            <a:fld id="{ECD0E3BF-EBD8-4E68-9818-BF3C54C07196}" type="datetimeFigureOut">
              <a:rPr kumimoji="1" lang="ja-JP" altLang="en-US" smtClean="0"/>
              <a:t>2020/1/28</a:t>
            </a:fld>
            <a:endParaRPr kumimoji="1" lang="ja-JP" altLang="en-US"/>
          </a:p>
        </p:txBody>
      </p:sp>
      <p:sp>
        <p:nvSpPr>
          <p:cNvPr id="4" name="フッター プレースホルダー 3">
            <a:extLst>
              <a:ext uri="{FF2B5EF4-FFF2-40B4-BE49-F238E27FC236}">
                <a16:creationId xmlns:a16="http://schemas.microsoft.com/office/drawing/2014/main" id="{2981E5B3-51E4-4B75-A9E0-BE324DD5CF12}"/>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F190CFC1-EAFA-43DB-A70E-5DDBD507197D}"/>
              </a:ext>
            </a:extLst>
          </p:cNvPr>
          <p:cNvSpPr>
            <a:spLocks noGrp="1"/>
          </p:cNvSpPr>
          <p:nvPr>
            <p:ph type="sldNum" sz="quarter" idx="12"/>
          </p:nvPr>
        </p:nvSpPr>
        <p:spPr/>
        <p:txBody>
          <a:bodyPr/>
          <a:lstStyle/>
          <a:p>
            <a:fld id="{C60A5D49-5FEF-45F9-B293-71E1D59CDE7A}" type="slidenum">
              <a:rPr kumimoji="1" lang="ja-JP" altLang="en-US" smtClean="0"/>
              <a:t>‹#›</a:t>
            </a:fld>
            <a:endParaRPr kumimoji="1" lang="ja-JP" altLang="en-US"/>
          </a:p>
        </p:txBody>
      </p:sp>
    </p:spTree>
    <p:extLst>
      <p:ext uri="{BB962C8B-B14F-4D97-AF65-F5344CB8AC3E}">
        <p14:creationId xmlns:p14="http://schemas.microsoft.com/office/powerpoint/2010/main" val="22190110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C219C24A-236D-4AEA-80A7-A8F2B0AD1D1D}"/>
              </a:ext>
            </a:extLst>
          </p:cNvPr>
          <p:cNvSpPr>
            <a:spLocks noGrp="1"/>
          </p:cNvSpPr>
          <p:nvPr>
            <p:ph type="dt" sz="half" idx="10"/>
          </p:nvPr>
        </p:nvSpPr>
        <p:spPr/>
        <p:txBody>
          <a:bodyPr/>
          <a:lstStyle/>
          <a:p>
            <a:fld id="{ECD0E3BF-EBD8-4E68-9818-BF3C54C07196}" type="datetimeFigureOut">
              <a:rPr kumimoji="1" lang="ja-JP" altLang="en-US" smtClean="0"/>
              <a:t>2020/1/28</a:t>
            </a:fld>
            <a:endParaRPr kumimoji="1" lang="ja-JP" altLang="en-US"/>
          </a:p>
        </p:txBody>
      </p:sp>
      <p:sp>
        <p:nvSpPr>
          <p:cNvPr id="3" name="フッター プレースホルダー 2">
            <a:extLst>
              <a:ext uri="{FF2B5EF4-FFF2-40B4-BE49-F238E27FC236}">
                <a16:creationId xmlns:a16="http://schemas.microsoft.com/office/drawing/2014/main" id="{92863EAF-4BF9-41AD-B123-CCFED8936E38}"/>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1A96A41E-1335-485A-AF70-C0DCAD0075A3}"/>
              </a:ext>
            </a:extLst>
          </p:cNvPr>
          <p:cNvSpPr>
            <a:spLocks noGrp="1"/>
          </p:cNvSpPr>
          <p:nvPr>
            <p:ph type="sldNum" sz="quarter" idx="12"/>
          </p:nvPr>
        </p:nvSpPr>
        <p:spPr/>
        <p:txBody>
          <a:bodyPr/>
          <a:lstStyle/>
          <a:p>
            <a:fld id="{C60A5D49-5FEF-45F9-B293-71E1D59CDE7A}" type="slidenum">
              <a:rPr kumimoji="1" lang="ja-JP" altLang="en-US" smtClean="0"/>
              <a:t>‹#›</a:t>
            </a:fld>
            <a:endParaRPr kumimoji="1" lang="ja-JP" altLang="en-US"/>
          </a:p>
        </p:txBody>
      </p:sp>
    </p:spTree>
    <p:extLst>
      <p:ext uri="{BB962C8B-B14F-4D97-AF65-F5344CB8AC3E}">
        <p14:creationId xmlns:p14="http://schemas.microsoft.com/office/powerpoint/2010/main" val="3262752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31CC710-8648-4913-B983-8146698A5A91}"/>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302ACA8F-9D92-4903-873C-F0BEE6EE8DD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DA5464C3-EE01-497A-9E2A-6D33EDC292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C7F5CD7B-6702-45FC-9F76-5A16A3942FA7}"/>
              </a:ext>
            </a:extLst>
          </p:cNvPr>
          <p:cNvSpPr>
            <a:spLocks noGrp="1"/>
          </p:cNvSpPr>
          <p:nvPr>
            <p:ph type="dt" sz="half" idx="10"/>
          </p:nvPr>
        </p:nvSpPr>
        <p:spPr/>
        <p:txBody>
          <a:bodyPr/>
          <a:lstStyle/>
          <a:p>
            <a:fld id="{ECD0E3BF-EBD8-4E68-9818-BF3C54C07196}" type="datetimeFigureOut">
              <a:rPr kumimoji="1" lang="ja-JP" altLang="en-US" smtClean="0"/>
              <a:t>2020/1/28</a:t>
            </a:fld>
            <a:endParaRPr kumimoji="1" lang="ja-JP" altLang="en-US"/>
          </a:p>
        </p:txBody>
      </p:sp>
      <p:sp>
        <p:nvSpPr>
          <p:cNvPr id="6" name="フッター プレースホルダー 5">
            <a:extLst>
              <a:ext uri="{FF2B5EF4-FFF2-40B4-BE49-F238E27FC236}">
                <a16:creationId xmlns:a16="http://schemas.microsoft.com/office/drawing/2014/main" id="{64697B6C-2682-4E1F-892A-AD48711EBCD4}"/>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E8B15C6-ADC8-4D0A-B785-E2A84020F855}"/>
              </a:ext>
            </a:extLst>
          </p:cNvPr>
          <p:cNvSpPr>
            <a:spLocks noGrp="1"/>
          </p:cNvSpPr>
          <p:nvPr>
            <p:ph type="sldNum" sz="quarter" idx="12"/>
          </p:nvPr>
        </p:nvSpPr>
        <p:spPr/>
        <p:txBody>
          <a:bodyPr/>
          <a:lstStyle/>
          <a:p>
            <a:fld id="{C60A5D49-5FEF-45F9-B293-71E1D59CDE7A}" type="slidenum">
              <a:rPr kumimoji="1" lang="ja-JP" altLang="en-US" smtClean="0"/>
              <a:t>‹#›</a:t>
            </a:fld>
            <a:endParaRPr kumimoji="1" lang="ja-JP" altLang="en-US"/>
          </a:p>
        </p:txBody>
      </p:sp>
    </p:spTree>
    <p:extLst>
      <p:ext uri="{BB962C8B-B14F-4D97-AF65-F5344CB8AC3E}">
        <p14:creationId xmlns:p14="http://schemas.microsoft.com/office/powerpoint/2010/main" val="35688887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7C626DD-0528-4D22-9919-DB56ABAF231D}"/>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4D9653A3-CC15-4E60-BCB9-B34DC6EC493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46CA3B4F-D1F2-430E-8E8A-F1E8FB2D27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392A8B29-3382-4129-BE67-7ECED71E5C40}"/>
              </a:ext>
            </a:extLst>
          </p:cNvPr>
          <p:cNvSpPr>
            <a:spLocks noGrp="1"/>
          </p:cNvSpPr>
          <p:nvPr>
            <p:ph type="dt" sz="half" idx="10"/>
          </p:nvPr>
        </p:nvSpPr>
        <p:spPr/>
        <p:txBody>
          <a:bodyPr/>
          <a:lstStyle/>
          <a:p>
            <a:fld id="{ECD0E3BF-EBD8-4E68-9818-BF3C54C07196}" type="datetimeFigureOut">
              <a:rPr kumimoji="1" lang="ja-JP" altLang="en-US" smtClean="0"/>
              <a:t>2020/1/28</a:t>
            </a:fld>
            <a:endParaRPr kumimoji="1" lang="ja-JP" altLang="en-US"/>
          </a:p>
        </p:txBody>
      </p:sp>
      <p:sp>
        <p:nvSpPr>
          <p:cNvPr id="6" name="フッター プレースホルダー 5">
            <a:extLst>
              <a:ext uri="{FF2B5EF4-FFF2-40B4-BE49-F238E27FC236}">
                <a16:creationId xmlns:a16="http://schemas.microsoft.com/office/drawing/2014/main" id="{8323270C-EB03-4270-B4E4-80C0DD13958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EF8B565-B10A-4703-AE44-78789E9EDD8B}"/>
              </a:ext>
            </a:extLst>
          </p:cNvPr>
          <p:cNvSpPr>
            <a:spLocks noGrp="1"/>
          </p:cNvSpPr>
          <p:nvPr>
            <p:ph type="sldNum" sz="quarter" idx="12"/>
          </p:nvPr>
        </p:nvSpPr>
        <p:spPr/>
        <p:txBody>
          <a:bodyPr/>
          <a:lstStyle/>
          <a:p>
            <a:fld id="{C60A5D49-5FEF-45F9-B293-71E1D59CDE7A}" type="slidenum">
              <a:rPr kumimoji="1" lang="ja-JP" altLang="en-US" smtClean="0"/>
              <a:t>‹#›</a:t>
            </a:fld>
            <a:endParaRPr kumimoji="1" lang="ja-JP" altLang="en-US"/>
          </a:p>
        </p:txBody>
      </p:sp>
    </p:spTree>
    <p:extLst>
      <p:ext uri="{BB962C8B-B14F-4D97-AF65-F5344CB8AC3E}">
        <p14:creationId xmlns:p14="http://schemas.microsoft.com/office/powerpoint/2010/main" val="33339229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C843DD3-764D-419A-AB4D-01D1BE10628D}"/>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6CD0A7CD-CE7C-4CCF-83C3-A55A1C72D777}"/>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69AD4FE-C5E5-47AD-82A7-A177687C14AE}"/>
              </a:ext>
            </a:extLst>
          </p:cNvPr>
          <p:cNvSpPr>
            <a:spLocks noGrp="1"/>
          </p:cNvSpPr>
          <p:nvPr>
            <p:ph type="dt" sz="half" idx="10"/>
          </p:nvPr>
        </p:nvSpPr>
        <p:spPr/>
        <p:txBody>
          <a:bodyPr/>
          <a:lstStyle/>
          <a:p>
            <a:fld id="{ECD0E3BF-EBD8-4E68-9818-BF3C54C07196}" type="datetimeFigureOut">
              <a:rPr kumimoji="1" lang="ja-JP" altLang="en-US" smtClean="0"/>
              <a:t>2020/1/28</a:t>
            </a:fld>
            <a:endParaRPr kumimoji="1" lang="ja-JP" altLang="en-US"/>
          </a:p>
        </p:txBody>
      </p:sp>
      <p:sp>
        <p:nvSpPr>
          <p:cNvPr id="5" name="フッター プレースホルダー 4">
            <a:extLst>
              <a:ext uri="{FF2B5EF4-FFF2-40B4-BE49-F238E27FC236}">
                <a16:creationId xmlns:a16="http://schemas.microsoft.com/office/drawing/2014/main" id="{418952A0-0B78-45EB-991B-4062E18F4A8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D3B474A-03F4-470C-BD1D-BAB9616C5669}"/>
              </a:ext>
            </a:extLst>
          </p:cNvPr>
          <p:cNvSpPr>
            <a:spLocks noGrp="1"/>
          </p:cNvSpPr>
          <p:nvPr>
            <p:ph type="sldNum" sz="quarter" idx="12"/>
          </p:nvPr>
        </p:nvSpPr>
        <p:spPr/>
        <p:txBody>
          <a:bodyPr/>
          <a:lstStyle/>
          <a:p>
            <a:fld id="{C60A5D49-5FEF-45F9-B293-71E1D59CDE7A}" type="slidenum">
              <a:rPr kumimoji="1" lang="ja-JP" altLang="en-US" smtClean="0"/>
              <a:t>‹#›</a:t>
            </a:fld>
            <a:endParaRPr kumimoji="1" lang="ja-JP" altLang="en-US"/>
          </a:p>
        </p:txBody>
      </p:sp>
    </p:spTree>
    <p:extLst>
      <p:ext uri="{BB962C8B-B14F-4D97-AF65-F5344CB8AC3E}">
        <p14:creationId xmlns:p14="http://schemas.microsoft.com/office/powerpoint/2010/main" val="41592744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73997EA7-7309-4735-9383-3A510ABEE52F}"/>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14D86072-8B70-4178-87B5-ED2A6D55A5FB}"/>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FE5155B-E989-45D9-A961-94800E847DBD}"/>
              </a:ext>
            </a:extLst>
          </p:cNvPr>
          <p:cNvSpPr>
            <a:spLocks noGrp="1"/>
          </p:cNvSpPr>
          <p:nvPr>
            <p:ph type="dt" sz="half" idx="10"/>
          </p:nvPr>
        </p:nvSpPr>
        <p:spPr/>
        <p:txBody>
          <a:bodyPr/>
          <a:lstStyle/>
          <a:p>
            <a:fld id="{ECD0E3BF-EBD8-4E68-9818-BF3C54C07196}" type="datetimeFigureOut">
              <a:rPr kumimoji="1" lang="ja-JP" altLang="en-US" smtClean="0"/>
              <a:t>2020/1/28</a:t>
            </a:fld>
            <a:endParaRPr kumimoji="1" lang="ja-JP" altLang="en-US"/>
          </a:p>
        </p:txBody>
      </p:sp>
      <p:sp>
        <p:nvSpPr>
          <p:cNvPr id="5" name="フッター プレースホルダー 4">
            <a:extLst>
              <a:ext uri="{FF2B5EF4-FFF2-40B4-BE49-F238E27FC236}">
                <a16:creationId xmlns:a16="http://schemas.microsoft.com/office/drawing/2014/main" id="{CD920339-7920-4654-B3FD-2DCE2B533AB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F62E408-D637-40BC-BC11-37566B6A2779}"/>
              </a:ext>
            </a:extLst>
          </p:cNvPr>
          <p:cNvSpPr>
            <a:spLocks noGrp="1"/>
          </p:cNvSpPr>
          <p:nvPr>
            <p:ph type="sldNum" sz="quarter" idx="12"/>
          </p:nvPr>
        </p:nvSpPr>
        <p:spPr/>
        <p:txBody>
          <a:bodyPr/>
          <a:lstStyle/>
          <a:p>
            <a:fld id="{C60A5D49-5FEF-45F9-B293-71E1D59CDE7A}" type="slidenum">
              <a:rPr kumimoji="1" lang="ja-JP" altLang="en-US" smtClean="0"/>
              <a:t>‹#›</a:t>
            </a:fld>
            <a:endParaRPr kumimoji="1" lang="ja-JP" altLang="en-US"/>
          </a:p>
        </p:txBody>
      </p:sp>
    </p:spTree>
    <p:extLst>
      <p:ext uri="{BB962C8B-B14F-4D97-AF65-F5344CB8AC3E}">
        <p14:creationId xmlns:p14="http://schemas.microsoft.com/office/powerpoint/2010/main" val="18000374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A050996F-C648-448A-8D97-0CD35CE1143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1D9096F-CCC0-4F5A-89D0-DEB214884E1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68A64FC-9E07-4477-8BE1-611FE7FAABD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D0E3BF-EBD8-4E68-9818-BF3C54C07196}" type="datetimeFigureOut">
              <a:rPr kumimoji="1" lang="ja-JP" altLang="en-US" smtClean="0"/>
              <a:t>2020/1/28</a:t>
            </a:fld>
            <a:endParaRPr kumimoji="1" lang="ja-JP" altLang="en-US"/>
          </a:p>
        </p:txBody>
      </p:sp>
      <p:sp>
        <p:nvSpPr>
          <p:cNvPr id="5" name="フッター プレースホルダー 4">
            <a:extLst>
              <a:ext uri="{FF2B5EF4-FFF2-40B4-BE49-F238E27FC236}">
                <a16:creationId xmlns:a16="http://schemas.microsoft.com/office/drawing/2014/main" id="{6E6A5618-1350-4CE3-9254-56A334EAC9A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15BEA98D-FCAD-4D55-BB3C-1A6F605CE8B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60A5D49-5FEF-45F9-B293-71E1D59CDE7A}" type="slidenum">
              <a:rPr kumimoji="1" lang="ja-JP" altLang="en-US" smtClean="0"/>
              <a:t>‹#›</a:t>
            </a:fld>
            <a:endParaRPr kumimoji="1" lang="ja-JP" altLang="en-US"/>
          </a:p>
        </p:txBody>
      </p:sp>
    </p:spTree>
    <p:extLst>
      <p:ext uri="{BB962C8B-B14F-4D97-AF65-F5344CB8AC3E}">
        <p14:creationId xmlns:p14="http://schemas.microsoft.com/office/powerpoint/2010/main" val="8469429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61B9994-0486-4EC8-80A7-B799BA87032F}"/>
              </a:ext>
            </a:extLst>
          </p:cNvPr>
          <p:cNvSpPr>
            <a:spLocks noGrp="1"/>
          </p:cNvSpPr>
          <p:nvPr>
            <p:ph type="ctrTitle"/>
          </p:nvPr>
        </p:nvSpPr>
        <p:spPr>
          <a:xfrm>
            <a:off x="909638" y="1214438"/>
            <a:ext cx="10668000" cy="2387600"/>
          </a:xfrm>
        </p:spPr>
        <p:txBody>
          <a:bodyPr/>
          <a:lstStyle/>
          <a:p>
            <a:r>
              <a:rPr lang="ja-JP" altLang="en-US" b="1" dirty="0"/>
              <a:t>不正アクセス対策ソフトの開発</a:t>
            </a:r>
            <a:endParaRPr kumimoji="1" lang="ja-JP" altLang="en-US" dirty="0"/>
          </a:p>
        </p:txBody>
      </p:sp>
      <p:sp>
        <p:nvSpPr>
          <p:cNvPr id="3" name="字幕 2">
            <a:extLst>
              <a:ext uri="{FF2B5EF4-FFF2-40B4-BE49-F238E27FC236}">
                <a16:creationId xmlns:a16="http://schemas.microsoft.com/office/drawing/2014/main" id="{8F88EFE2-9906-45DE-AF88-3EB4EFF4B911}"/>
              </a:ext>
            </a:extLst>
          </p:cNvPr>
          <p:cNvSpPr>
            <a:spLocks noGrp="1"/>
          </p:cNvSpPr>
          <p:nvPr>
            <p:ph type="subTitle" idx="1"/>
          </p:nvPr>
        </p:nvSpPr>
        <p:spPr/>
        <p:txBody>
          <a:bodyPr/>
          <a:lstStyle/>
          <a:p>
            <a:pPr algn="r"/>
            <a:r>
              <a:rPr lang="ja-JP" altLang="en-US" dirty="0"/>
              <a:t>塚田研究室　</a:t>
            </a:r>
            <a:r>
              <a:rPr lang="en-US" altLang="ja-JP" dirty="0"/>
              <a:t>3</a:t>
            </a:r>
            <a:r>
              <a:rPr lang="ja-JP" altLang="en-US" dirty="0"/>
              <a:t>年　勅使河原胡桃</a:t>
            </a:r>
          </a:p>
          <a:p>
            <a:endParaRPr kumimoji="1" lang="ja-JP" altLang="en-US" dirty="0"/>
          </a:p>
        </p:txBody>
      </p:sp>
    </p:spTree>
    <p:extLst>
      <p:ext uri="{BB962C8B-B14F-4D97-AF65-F5344CB8AC3E}">
        <p14:creationId xmlns:p14="http://schemas.microsoft.com/office/powerpoint/2010/main" val="14109629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F8CDEF6-ADBD-44A8-84C6-A145A43A9C5C}"/>
              </a:ext>
            </a:extLst>
          </p:cNvPr>
          <p:cNvSpPr>
            <a:spLocks noGrp="1"/>
          </p:cNvSpPr>
          <p:nvPr>
            <p:ph type="title"/>
          </p:nvPr>
        </p:nvSpPr>
        <p:spPr/>
        <p:txBody>
          <a:bodyPr/>
          <a:lstStyle/>
          <a:p>
            <a:r>
              <a:rPr kumimoji="1" lang="ja-JP" altLang="en-US" b="1" dirty="0">
                <a:latin typeface="+mn-ea"/>
                <a:ea typeface="+mn-ea"/>
              </a:rPr>
              <a:t>研究背景</a:t>
            </a:r>
          </a:p>
        </p:txBody>
      </p:sp>
      <p:sp>
        <p:nvSpPr>
          <p:cNvPr id="3" name="コンテンツ プレースホルダー 2">
            <a:extLst>
              <a:ext uri="{FF2B5EF4-FFF2-40B4-BE49-F238E27FC236}">
                <a16:creationId xmlns:a16="http://schemas.microsoft.com/office/drawing/2014/main" id="{9784F6C9-5B33-4F58-975A-EC2B9189F560}"/>
              </a:ext>
            </a:extLst>
          </p:cNvPr>
          <p:cNvSpPr>
            <a:spLocks noGrp="1"/>
          </p:cNvSpPr>
          <p:nvPr>
            <p:ph idx="1"/>
          </p:nvPr>
        </p:nvSpPr>
        <p:spPr/>
        <p:txBody>
          <a:bodyPr/>
          <a:lstStyle/>
          <a:p>
            <a:pPr marL="0" indent="0">
              <a:buNone/>
            </a:pPr>
            <a:r>
              <a:rPr lang="ja-JP" altLang="en-US" sz="3600" b="1" dirty="0"/>
              <a:t>・</a:t>
            </a:r>
            <a:r>
              <a:rPr lang="en-US" altLang="ja-JP" sz="3600" b="1" dirty="0"/>
              <a:t>IT</a:t>
            </a:r>
            <a:r>
              <a:rPr lang="ja-JP" altLang="en-US" sz="3600" b="1" dirty="0"/>
              <a:t>化が進み、不正アクセスの被害が多くニュースに取り上げられている</a:t>
            </a:r>
          </a:p>
          <a:p>
            <a:endParaRPr kumimoji="1" lang="en-US" altLang="ja-JP" sz="3600" dirty="0"/>
          </a:p>
          <a:p>
            <a:pPr marL="0" indent="0">
              <a:buNone/>
            </a:pPr>
            <a:r>
              <a:rPr lang="ja-JP" altLang="en-US" sz="3600" b="1" dirty="0"/>
              <a:t>・そこで不正アクセスを防ぎ被害を減少させることが重要視されます。</a:t>
            </a:r>
          </a:p>
          <a:p>
            <a:endParaRPr kumimoji="1" lang="ja-JP" altLang="en-US" dirty="0"/>
          </a:p>
        </p:txBody>
      </p:sp>
    </p:spTree>
    <p:extLst>
      <p:ext uri="{BB962C8B-B14F-4D97-AF65-F5344CB8AC3E}">
        <p14:creationId xmlns:p14="http://schemas.microsoft.com/office/powerpoint/2010/main" val="36017776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8372144-A033-4294-8015-41156C55C6B9}"/>
              </a:ext>
            </a:extLst>
          </p:cNvPr>
          <p:cNvSpPr>
            <a:spLocks noGrp="1"/>
          </p:cNvSpPr>
          <p:nvPr>
            <p:ph type="title"/>
          </p:nvPr>
        </p:nvSpPr>
        <p:spPr/>
        <p:txBody>
          <a:bodyPr/>
          <a:lstStyle/>
          <a:p>
            <a:r>
              <a:rPr kumimoji="1" lang="ja-JP" altLang="en-US" b="1" dirty="0">
                <a:latin typeface="+mn-ea"/>
                <a:ea typeface="+mn-ea"/>
              </a:rPr>
              <a:t>パスワード再発行画面</a:t>
            </a:r>
          </a:p>
        </p:txBody>
      </p:sp>
      <p:pic>
        <p:nvPicPr>
          <p:cNvPr id="4" name="コンテンツ プレースホルダー 3">
            <a:extLst>
              <a:ext uri="{FF2B5EF4-FFF2-40B4-BE49-F238E27FC236}">
                <a16:creationId xmlns:a16="http://schemas.microsoft.com/office/drawing/2014/main" id="{9797A553-147A-4A16-ACD9-958EA499B386}"/>
              </a:ext>
            </a:extLst>
          </p:cNvPr>
          <p:cNvPicPr>
            <a:picLocks noGrp="1" noChangeAspect="1"/>
          </p:cNvPicPr>
          <p:nvPr>
            <p:ph idx="1"/>
          </p:nvPr>
        </p:nvPicPr>
        <p:blipFill>
          <a:blip r:embed="rId3"/>
          <a:stretch>
            <a:fillRect/>
          </a:stretch>
        </p:blipFill>
        <p:spPr>
          <a:xfrm>
            <a:off x="2273628" y="1953962"/>
            <a:ext cx="2928363" cy="4351338"/>
          </a:xfrm>
          <a:prstGeom prst="rect">
            <a:avLst/>
          </a:prstGeom>
        </p:spPr>
      </p:pic>
      <p:pic>
        <p:nvPicPr>
          <p:cNvPr id="5" name="図 4">
            <a:extLst>
              <a:ext uri="{FF2B5EF4-FFF2-40B4-BE49-F238E27FC236}">
                <a16:creationId xmlns:a16="http://schemas.microsoft.com/office/drawing/2014/main" id="{24F8CCDA-BBED-453D-BFCD-F0754884D608}"/>
              </a:ext>
            </a:extLst>
          </p:cNvPr>
          <p:cNvPicPr>
            <a:picLocks noChangeAspect="1"/>
          </p:cNvPicPr>
          <p:nvPr/>
        </p:nvPicPr>
        <p:blipFill>
          <a:blip r:embed="rId4"/>
          <a:stretch>
            <a:fillRect/>
          </a:stretch>
        </p:blipFill>
        <p:spPr>
          <a:xfrm>
            <a:off x="6990011" y="1690688"/>
            <a:ext cx="3255546" cy="5139373"/>
          </a:xfrm>
          <a:prstGeom prst="rect">
            <a:avLst/>
          </a:prstGeom>
        </p:spPr>
      </p:pic>
    </p:spTree>
    <p:extLst>
      <p:ext uri="{BB962C8B-B14F-4D97-AF65-F5344CB8AC3E}">
        <p14:creationId xmlns:p14="http://schemas.microsoft.com/office/powerpoint/2010/main" val="11968655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A56CF28-A166-4164-90DE-6BBF26DD6C77}"/>
              </a:ext>
            </a:extLst>
          </p:cNvPr>
          <p:cNvSpPr>
            <a:spLocks noGrp="1"/>
          </p:cNvSpPr>
          <p:nvPr>
            <p:ph type="title"/>
          </p:nvPr>
        </p:nvSpPr>
        <p:spPr/>
        <p:txBody>
          <a:bodyPr/>
          <a:lstStyle/>
          <a:p>
            <a:r>
              <a:rPr lang="ja-JP" altLang="en-US" b="1" dirty="0">
                <a:latin typeface="+mn-ea"/>
                <a:ea typeface="+mn-ea"/>
              </a:rPr>
              <a:t>パスワード再発行に必要な情報</a:t>
            </a:r>
            <a:br>
              <a:rPr lang="ja-JP" altLang="en-US" b="1" dirty="0"/>
            </a:br>
            <a:endParaRPr kumimoji="1" lang="ja-JP" altLang="en-US" dirty="0"/>
          </a:p>
        </p:txBody>
      </p:sp>
      <p:sp>
        <p:nvSpPr>
          <p:cNvPr id="3" name="コンテンツ プレースホルダー 2">
            <a:extLst>
              <a:ext uri="{FF2B5EF4-FFF2-40B4-BE49-F238E27FC236}">
                <a16:creationId xmlns:a16="http://schemas.microsoft.com/office/drawing/2014/main" id="{73C80100-A098-4516-A63F-1964A628B159}"/>
              </a:ext>
            </a:extLst>
          </p:cNvPr>
          <p:cNvSpPr>
            <a:spLocks noGrp="1"/>
          </p:cNvSpPr>
          <p:nvPr>
            <p:ph idx="1"/>
          </p:nvPr>
        </p:nvSpPr>
        <p:spPr>
          <a:xfrm>
            <a:off x="1676400" y="2325688"/>
            <a:ext cx="10515600" cy="4351338"/>
          </a:xfrm>
        </p:spPr>
        <p:txBody>
          <a:bodyPr/>
          <a:lstStyle/>
          <a:p>
            <a:r>
              <a:rPr lang="ja-JP" altLang="en-US" sz="3600" b="1" dirty="0"/>
              <a:t>電話番号　</a:t>
            </a:r>
            <a:r>
              <a:rPr lang="en-US" altLang="ja-JP" sz="3600" b="1" dirty="0"/>
              <a:t>080-</a:t>
            </a:r>
            <a:r>
              <a:rPr lang="ja-JP" altLang="en-US" sz="3600" b="1" dirty="0"/>
              <a:t>〇〇〇〇</a:t>
            </a:r>
            <a:r>
              <a:rPr lang="en-US" altLang="ja-JP" sz="3600" b="1" dirty="0"/>
              <a:t>-</a:t>
            </a:r>
            <a:r>
              <a:rPr lang="ja-JP" altLang="en-US" sz="3600" b="1" dirty="0"/>
              <a:t>〇〇〇〇</a:t>
            </a:r>
            <a:r>
              <a:rPr lang="en-US" altLang="ja-JP" sz="3600" b="1" dirty="0"/>
              <a:t>  </a:t>
            </a:r>
          </a:p>
          <a:p>
            <a:pPr marL="0" indent="0">
              <a:buNone/>
            </a:pPr>
            <a:r>
              <a:rPr lang="ja-JP" altLang="en-US" sz="3600" b="1" dirty="0"/>
              <a:t>　　　　　  </a:t>
            </a:r>
            <a:r>
              <a:rPr lang="en-US" altLang="ja-JP" sz="3600" b="1" dirty="0"/>
              <a:t>090-</a:t>
            </a:r>
            <a:r>
              <a:rPr lang="ja-JP" altLang="en-US" sz="3600" b="1" dirty="0"/>
              <a:t>〇〇〇〇</a:t>
            </a:r>
            <a:r>
              <a:rPr lang="en-US" altLang="ja-JP" sz="3600" b="1" dirty="0"/>
              <a:t>-</a:t>
            </a:r>
            <a:r>
              <a:rPr lang="ja-JP" altLang="en-US" sz="3600" b="1" dirty="0"/>
              <a:t>〇〇〇〇</a:t>
            </a:r>
            <a:endParaRPr lang="en-US" altLang="ja-JP" sz="3600" b="1" dirty="0"/>
          </a:p>
          <a:p>
            <a:r>
              <a:rPr lang="ja-JP" altLang="en-US" sz="3600" b="1" dirty="0"/>
              <a:t>生年月日</a:t>
            </a:r>
          </a:p>
          <a:p>
            <a:pPr marL="0" indent="0">
              <a:buNone/>
            </a:pPr>
            <a:r>
              <a:rPr lang="ja-JP" altLang="en-US" sz="3600" b="1" dirty="0"/>
              <a:t>↑未設定の場合　</a:t>
            </a:r>
            <a:r>
              <a:rPr lang="en-US" altLang="ja-JP" sz="3600" b="1" dirty="0"/>
              <a:t> 2019/01/01</a:t>
            </a:r>
            <a:endParaRPr lang="ja-JP" altLang="en-US" sz="3600" b="1" dirty="0"/>
          </a:p>
          <a:p>
            <a:endParaRPr kumimoji="1" lang="ja-JP" altLang="en-US" dirty="0"/>
          </a:p>
        </p:txBody>
      </p:sp>
    </p:spTree>
    <p:extLst>
      <p:ext uri="{BB962C8B-B14F-4D97-AF65-F5344CB8AC3E}">
        <p14:creationId xmlns:p14="http://schemas.microsoft.com/office/powerpoint/2010/main" val="11585817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E6158D6-930C-45D1-AAAD-117C06967EC2}"/>
              </a:ext>
            </a:extLst>
          </p:cNvPr>
          <p:cNvSpPr>
            <a:spLocks noGrp="1"/>
          </p:cNvSpPr>
          <p:nvPr>
            <p:ph type="title"/>
          </p:nvPr>
        </p:nvSpPr>
        <p:spPr/>
        <p:txBody>
          <a:bodyPr/>
          <a:lstStyle/>
          <a:p>
            <a:r>
              <a:rPr kumimoji="1" lang="ja-JP" altLang="en-US" b="1" dirty="0">
                <a:latin typeface="+mn-ea"/>
                <a:ea typeface="+mn-ea"/>
              </a:rPr>
              <a:t>研究目的</a:t>
            </a:r>
          </a:p>
        </p:txBody>
      </p:sp>
      <p:sp>
        <p:nvSpPr>
          <p:cNvPr id="3" name="コンテンツ プレースホルダー 2">
            <a:extLst>
              <a:ext uri="{FF2B5EF4-FFF2-40B4-BE49-F238E27FC236}">
                <a16:creationId xmlns:a16="http://schemas.microsoft.com/office/drawing/2014/main" id="{3CDE259A-97A7-4125-9F34-827D93DB90BD}"/>
              </a:ext>
            </a:extLst>
          </p:cNvPr>
          <p:cNvSpPr>
            <a:spLocks noGrp="1"/>
          </p:cNvSpPr>
          <p:nvPr>
            <p:ph idx="1"/>
          </p:nvPr>
        </p:nvSpPr>
        <p:spPr>
          <a:xfrm>
            <a:off x="1023938" y="3040062"/>
            <a:ext cx="10515600" cy="4351338"/>
          </a:xfrm>
        </p:spPr>
        <p:txBody>
          <a:bodyPr/>
          <a:lstStyle/>
          <a:p>
            <a:pPr marL="0" indent="0">
              <a:buNone/>
            </a:pPr>
            <a:r>
              <a:rPr lang="ja-JP" altLang="en-US" sz="3200" b="1" dirty="0"/>
              <a:t>・</a:t>
            </a:r>
            <a:r>
              <a:rPr lang="ja-JP" altLang="en-US" sz="3600" b="1" dirty="0"/>
              <a:t>不正アクセス対策としてファイアウォールやセキュリティソフトの開発</a:t>
            </a:r>
          </a:p>
          <a:p>
            <a:endParaRPr kumimoji="1" lang="ja-JP" altLang="en-US" dirty="0"/>
          </a:p>
        </p:txBody>
      </p:sp>
    </p:spTree>
    <p:extLst>
      <p:ext uri="{BB962C8B-B14F-4D97-AF65-F5344CB8AC3E}">
        <p14:creationId xmlns:p14="http://schemas.microsoft.com/office/powerpoint/2010/main" val="35606053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91C1A41-C468-4B02-B685-0E4580B54377}"/>
              </a:ext>
            </a:extLst>
          </p:cNvPr>
          <p:cNvSpPr>
            <a:spLocks noGrp="1"/>
          </p:cNvSpPr>
          <p:nvPr>
            <p:ph type="title"/>
          </p:nvPr>
        </p:nvSpPr>
        <p:spPr/>
        <p:txBody>
          <a:bodyPr/>
          <a:lstStyle/>
          <a:p>
            <a:r>
              <a:rPr kumimoji="1" lang="ja-JP" altLang="en-US" b="1" dirty="0">
                <a:latin typeface="+mn-ea"/>
                <a:ea typeface="+mn-ea"/>
              </a:rPr>
              <a:t>ファイアウォール</a:t>
            </a:r>
          </a:p>
        </p:txBody>
      </p:sp>
      <p:sp>
        <p:nvSpPr>
          <p:cNvPr id="3" name="コンテンツ プレースホルダー 2">
            <a:extLst>
              <a:ext uri="{FF2B5EF4-FFF2-40B4-BE49-F238E27FC236}">
                <a16:creationId xmlns:a16="http://schemas.microsoft.com/office/drawing/2014/main" id="{95C5479F-6EB6-4348-9E3F-E531DA57F30B}"/>
              </a:ext>
            </a:extLst>
          </p:cNvPr>
          <p:cNvSpPr>
            <a:spLocks noGrp="1"/>
          </p:cNvSpPr>
          <p:nvPr>
            <p:ph idx="1"/>
          </p:nvPr>
        </p:nvSpPr>
        <p:spPr/>
        <p:txBody>
          <a:bodyPr/>
          <a:lstStyle/>
          <a:p>
            <a:r>
              <a:rPr lang="ja-JP" altLang="en-US" sz="3600" b="1" dirty="0"/>
              <a:t>不正を防ぎ、機密性を高めるセキュリティ技術</a:t>
            </a:r>
          </a:p>
          <a:p>
            <a:endParaRPr kumimoji="1" lang="ja-JP" altLang="en-US" dirty="0"/>
          </a:p>
        </p:txBody>
      </p:sp>
      <p:pic>
        <p:nvPicPr>
          <p:cNvPr id="4" name="図 3">
            <a:extLst>
              <a:ext uri="{FF2B5EF4-FFF2-40B4-BE49-F238E27FC236}">
                <a16:creationId xmlns:a16="http://schemas.microsoft.com/office/drawing/2014/main" id="{3F75DD28-3027-46DD-AB08-B57A69A6BC7E}"/>
              </a:ext>
            </a:extLst>
          </p:cNvPr>
          <p:cNvPicPr>
            <a:picLocks noChangeAspect="1"/>
          </p:cNvPicPr>
          <p:nvPr/>
        </p:nvPicPr>
        <p:blipFill>
          <a:blip r:embed="rId3"/>
          <a:stretch>
            <a:fillRect/>
          </a:stretch>
        </p:blipFill>
        <p:spPr>
          <a:xfrm>
            <a:off x="2157269" y="2671057"/>
            <a:ext cx="7877461" cy="3640843"/>
          </a:xfrm>
          <a:prstGeom prst="rect">
            <a:avLst/>
          </a:prstGeom>
        </p:spPr>
      </p:pic>
    </p:spTree>
    <p:extLst>
      <p:ext uri="{BB962C8B-B14F-4D97-AF65-F5344CB8AC3E}">
        <p14:creationId xmlns:p14="http://schemas.microsoft.com/office/powerpoint/2010/main" val="17516863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7AF20FE-3F46-43D6-9548-B4B469BCFE4E}"/>
              </a:ext>
            </a:extLst>
          </p:cNvPr>
          <p:cNvSpPr>
            <a:spLocks noGrp="1"/>
          </p:cNvSpPr>
          <p:nvPr>
            <p:ph type="title"/>
          </p:nvPr>
        </p:nvSpPr>
        <p:spPr/>
        <p:txBody>
          <a:bodyPr/>
          <a:lstStyle/>
          <a:p>
            <a:r>
              <a:rPr kumimoji="1" lang="ja-JP" altLang="en-US" b="1" dirty="0">
                <a:latin typeface="+mn-ea"/>
                <a:ea typeface="+mn-ea"/>
              </a:rPr>
              <a:t>既存のソフト</a:t>
            </a:r>
          </a:p>
        </p:txBody>
      </p:sp>
      <p:sp>
        <p:nvSpPr>
          <p:cNvPr id="3" name="コンテンツ プレースホルダー 2">
            <a:extLst>
              <a:ext uri="{FF2B5EF4-FFF2-40B4-BE49-F238E27FC236}">
                <a16:creationId xmlns:a16="http://schemas.microsoft.com/office/drawing/2014/main" id="{BC0FE1BB-3DCC-4BB6-B43B-5711D37DDA4E}"/>
              </a:ext>
            </a:extLst>
          </p:cNvPr>
          <p:cNvSpPr>
            <a:spLocks noGrp="1"/>
          </p:cNvSpPr>
          <p:nvPr>
            <p:ph idx="1"/>
          </p:nvPr>
        </p:nvSpPr>
        <p:spPr>
          <a:xfrm>
            <a:off x="838200" y="1690688"/>
            <a:ext cx="10515600" cy="4351338"/>
          </a:xfrm>
        </p:spPr>
        <p:txBody>
          <a:bodyPr>
            <a:noAutofit/>
          </a:bodyPr>
          <a:lstStyle/>
          <a:p>
            <a:r>
              <a:rPr lang="ja-JP" altLang="en-US" sz="3600" b="1" dirty="0"/>
              <a:t>不正侵入検出技術（</a:t>
            </a:r>
            <a:r>
              <a:rPr lang="en-US" altLang="ja-JP" sz="3600" b="1" dirty="0"/>
              <a:t>IDS</a:t>
            </a:r>
            <a:r>
              <a:rPr lang="ja-JP" altLang="en-US" sz="3600" b="1" dirty="0"/>
              <a:t>）</a:t>
            </a:r>
          </a:p>
          <a:p>
            <a:pPr marL="0" indent="0">
              <a:buNone/>
            </a:pPr>
            <a:r>
              <a:rPr lang="ja-JP" altLang="en-US" sz="3600" b="1" dirty="0"/>
              <a:t>ネットワークへの不正侵入を検知する技術</a:t>
            </a:r>
            <a:endParaRPr lang="en-US" altLang="ja-JP" sz="3600" dirty="0"/>
          </a:p>
          <a:p>
            <a:pPr marL="0" indent="0">
              <a:buNone/>
            </a:pPr>
            <a:r>
              <a:rPr lang="ja-JP" altLang="en-US" sz="3600" b="1" dirty="0"/>
              <a:t>機能として</a:t>
            </a:r>
            <a:endParaRPr lang="en-US" altLang="ja-JP" sz="3600" b="1" dirty="0"/>
          </a:p>
          <a:p>
            <a:pPr marL="0" indent="0">
              <a:buNone/>
            </a:pPr>
            <a:r>
              <a:rPr lang="ja-JP" altLang="en-US" sz="3600" b="1" dirty="0"/>
              <a:t>①監視</a:t>
            </a:r>
            <a:endParaRPr lang="en-US" altLang="ja-JP" sz="3600" b="1" dirty="0"/>
          </a:p>
          <a:p>
            <a:pPr marL="0" indent="0">
              <a:buNone/>
            </a:pPr>
            <a:r>
              <a:rPr lang="ja-JP" altLang="en-US" sz="3600" b="1" dirty="0"/>
              <a:t>②不正侵入検出</a:t>
            </a:r>
            <a:endParaRPr lang="en-US" altLang="ja-JP" sz="3600" b="1" dirty="0"/>
          </a:p>
          <a:p>
            <a:pPr marL="0" indent="0">
              <a:buNone/>
            </a:pPr>
            <a:r>
              <a:rPr lang="ja-JP" altLang="en-US" sz="3600" b="1" dirty="0"/>
              <a:t>③通知</a:t>
            </a:r>
            <a:endParaRPr lang="en-US" altLang="ja-JP" sz="3600" b="1" dirty="0"/>
          </a:p>
          <a:p>
            <a:pPr marL="0" indent="0">
              <a:buNone/>
            </a:pPr>
            <a:r>
              <a:rPr lang="ja-JP" altLang="en-US" sz="3600" b="1" dirty="0"/>
              <a:t>④処理</a:t>
            </a:r>
            <a:endParaRPr lang="en-US" altLang="ja-JP" sz="3600" b="1" dirty="0"/>
          </a:p>
          <a:p>
            <a:pPr marL="0" indent="0">
              <a:buNone/>
            </a:pPr>
            <a:r>
              <a:rPr lang="ja-JP" altLang="en-US" sz="3600" b="1" dirty="0"/>
              <a:t>⑤ログ</a:t>
            </a:r>
            <a:endParaRPr kumimoji="1" lang="ja-JP" altLang="en-US" sz="3600" dirty="0"/>
          </a:p>
        </p:txBody>
      </p:sp>
    </p:spTree>
    <p:extLst>
      <p:ext uri="{BB962C8B-B14F-4D97-AF65-F5344CB8AC3E}">
        <p14:creationId xmlns:p14="http://schemas.microsoft.com/office/powerpoint/2010/main" val="1427939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C1296B1-FA74-4D0C-AF89-49021505EBAA}"/>
              </a:ext>
            </a:extLst>
          </p:cNvPr>
          <p:cNvSpPr>
            <a:spLocks noGrp="1"/>
          </p:cNvSpPr>
          <p:nvPr>
            <p:ph type="title"/>
          </p:nvPr>
        </p:nvSpPr>
        <p:spPr/>
        <p:txBody>
          <a:bodyPr/>
          <a:lstStyle/>
          <a:p>
            <a:r>
              <a:rPr kumimoji="1" lang="ja-JP" altLang="en-US" b="1" dirty="0">
                <a:latin typeface="+mn-ea"/>
                <a:ea typeface="+mn-ea"/>
              </a:rPr>
              <a:t>今後の取り組み</a:t>
            </a:r>
          </a:p>
        </p:txBody>
      </p:sp>
      <p:sp>
        <p:nvSpPr>
          <p:cNvPr id="3" name="コンテンツ プレースホルダー 2">
            <a:extLst>
              <a:ext uri="{FF2B5EF4-FFF2-40B4-BE49-F238E27FC236}">
                <a16:creationId xmlns:a16="http://schemas.microsoft.com/office/drawing/2014/main" id="{0F546EA9-12CC-4FC8-86A7-9E84016AAE2B}"/>
              </a:ext>
            </a:extLst>
          </p:cNvPr>
          <p:cNvSpPr>
            <a:spLocks noGrp="1"/>
          </p:cNvSpPr>
          <p:nvPr>
            <p:ph idx="1"/>
          </p:nvPr>
        </p:nvSpPr>
        <p:spPr>
          <a:xfrm>
            <a:off x="1466850" y="2811462"/>
            <a:ext cx="10515600" cy="4351338"/>
          </a:xfrm>
        </p:spPr>
        <p:txBody>
          <a:bodyPr>
            <a:normAutofit/>
          </a:bodyPr>
          <a:lstStyle/>
          <a:p>
            <a:r>
              <a:rPr lang="ja-JP" altLang="en-US" sz="3600" b="1" dirty="0"/>
              <a:t>既存のソフトの課題を見つけ出す</a:t>
            </a:r>
            <a:endParaRPr lang="en-US" altLang="ja-JP" sz="3600" b="1" dirty="0"/>
          </a:p>
          <a:p>
            <a:r>
              <a:rPr lang="ja-JP" altLang="en-US" sz="3600" b="1" dirty="0"/>
              <a:t>その課題を解決させるソフトを開発する</a:t>
            </a:r>
            <a:endParaRPr kumimoji="1" lang="ja-JP" altLang="en-US" sz="3600" dirty="0"/>
          </a:p>
        </p:txBody>
      </p:sp>
    </p:spTree>
    <p:extLst>
      <p:ext uri="{BB962C8B-B14F-4D97-AF65-F5344CB8AC3E}">
        <p14:creationId xmlns:p14="http://schemas.microsoft.com/office/powerpoint/2010/main" val="29616842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24C95B3-10BC-45E1-BDBD-FAEF9EA8A933}"/>
              </a:ext>
            </a:extLst>
          </p:cNvPr>
          <p:cNvSpPr>
            <a:spLocks noGrp="1"/>
          </p:cNvSpPr>
          <p:nvPr>
            <p:ph type="title"/>
          </p:nvPr>
        </p:nvSpPr>
        <p:spPr/>
        <p:txBody>
          <a:bodyPr/>
          <a:lstStyle/>
          <a:p>
            <a:r>
              <a:rPr kumimoji="1" lang="ja-JP" altLang="en-US" b="1" dirty="0">
                <a:latin typeface="+mn-ea"/>
                <a:ea typeface="+mn-ea"/>
              </a:rPr>
              <a:t>参考文献</a:t>
            </a:r>
          </a:p>
        </p:txBody>
      </p:sp>
      <p:sp>
        <p:nvSpPr>
          <p:cNvPr id="3" name="コンテンツ プレースホルダー 2">
            <a:extLst>
              <a:ext uri="{FF2B5EF4-FFF2-40B4-BE49-F238E27FC236}">
                <a16:creationId xmlns:a16="http://schemas.microsoft.com/office/drawing/2014/main" id="{5C1FAB81-976A-4082-9550-C2D938295F89}"/>
              </a:ext>
            </a:extLst>
          </p:cNvPr>
          <p:cNvSpPr>
            <a:spLocks noGrp="1"/>
          </p:cNvSpPr>
          <p:nvPr>
            <p:ph idx="1"/>
          </p:nvPr>
        </p:nvSpPr>
        <p:spPr>
          <a:xfrm>
            <a:off x="2314074" y="2598821"/>
            <a:ext cx="6797842" cy="2952500"/>
          </a:xfrm>
        </p:spPr>
        <p:txBody>
          <a:bodyPr/>
          <a:lstStyle/>
          <a:p>
            <a:r>
              <a:rPr lang="en-US" altLang="ja-JP" sz="3600" b="1" dirty="0"/>
              <a:t>IT</a:t>
            </a:r>
            <a:r>
              <a:rPr lang="ja-JP" altLang="en-US" sz="3600" b="1" dirty="0"/>
              <a:t>　</a:t>
            </a:r>
            <a:r>
              <a:rPr lang="en-US" altLang="ja-JP" sz="3600" b="1" dirty="0"/>
              <a:t>Text </a:t>
            </a:r>
            <a:r>
              <a:rPr lang="ja-JP" altLang="en-US" sz="3600" b="1" dirty="0"/>
              <a:t>情報セキュリティ</a:t>
            </a:r>
            <a:endParaRPr lang="en-US" altLang="ja-JP" sz="3600" b="1" dirty="0"/>
          </a:p>
          <a:p>
            <a:pPr marL="0" indent="0" algn="r">
              <a:buNone/>
            </a:pPr>
            <a:r>
              <a:rPr lang="ja-JP" altLang="en-US" sz="3600" b="1" dirty="0"/>
              <a:t>宮地　充子</a:t>
            </a:r>
            <a:endParaRPr lang="en-US" altLang="ja-JP" sz="3600" b="1" dirty="0"/>
          </a:p>
          <a:p>
            <a:pPr marL="0" indent="0" algn="r">
              <a:buNone/>
            </a:pPr>
            <a:r>
              <a:rPr lang="ja-JP" altLang="en-US" sz="3600" b="1" dirty="0"/>
              <a:t>菊池　浩明</a:t>
            </a:r>
          </a:p>
          <a:p>
            <a:endParaRPr kumimoji="1" lang="ja-JP" altLang="en-US" dirty="0"/>
          </a:p>
        </p:txBody>
      </p:sp>
    </p:spTree>
    <p:extLst>
      <p:ext uri="{BB962C8B-B14F-4D97-AF65-F5344CB8AC3E}">
        <p14:creationId xmlns:p14="http://schemas.microsoft.com/office/powerpoint/2010/main" val="3308745803"/>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312</TotalTime>
  <Words>848</Words>
  <Application>Microsoft Office PowerPoint</Application>
  <PresentationFormat>ワイド画面</PresentationFormat>
  <Paragraphs>67</Paragraphs>
  <Slides>9</Slides>
  <Notes>9</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9</vt:i4>
      </vt:variant>
    </vt:vector>
  </HeadingPairs>
  <TitlesOfParts>
    <vt:vector size="13" baseType="lpstr">
      <vt:lpstr>游ゴシック</vt:lpstr>
      <vt:lpstr>游ゴシック Light</vt:lpstr>
      <vt:lpstr>Arial</vt:lpstr>
      <vt:lpstr>Office テーマ</vt:lpstr>
      <vt:lpstr>不正アクセス対策ソフトの開発</vt:lpstr>
      <vt:lpstr>研究背景</vt:lpstr>
      <vt:lpstr>パスワード再発行画面</vt:lpstr>
      <vt:lpstr>パスワード再発行に必要な情報 </vt:lpstr>
      <vt:lpstr>研究目的</vt:lpstr>
      <vt:lpstr>ファイアウォール</vt:lpstr>
      <vt:lpstr>既存のソフト</vt:lpstr>
      <vt:lpstr>今後の取り組み</vt:lpstr>
      <vt:lpstr>参考文献</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勅使河原　胡桃</dc:creator>
  <cp:lastModifiedBy>勅使河原　胡桃</cp:lastModifiedBy>
  <cp:revision>10</cp:revision>
  <dcterms:created xsi:type="dcterms:W3CDTF">2020-01-21T10:32:12Z</dcterms:created>
  <dcterms:modified xsi:type="dcterms:W3CDTF">2020-01-28T05:57:22Z</dcterms:modified>
</cp:coreProperties>
</file>